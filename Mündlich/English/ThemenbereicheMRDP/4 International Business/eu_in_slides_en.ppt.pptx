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8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21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9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2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19.xml"/>
  <Override ContentType="application/vnd.openxmlformats-officedocument.theme+xml" PartName="/ppt/theme/theme22.xml"/>
  <Override ContentType="application/vnd.openxmlformats-officedocument.theme+xml" PartName="/ppt/theme/theme3.xml"/>
  <Override ContentType="application/vnd.openxmlformats-officedocument.theme+xml" PartName="/ppt/theme/theme20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1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18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6.xml"/>
  <Override ContentType="application/vnd.openxmlformats-officedocument.theme+xml" PartName="/ppt/theme/theme1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881" r:id="rId4"/>
    <p:sldMasterId id="2147483882" r:id="rId5"/>
    <p:sldMasterId id="2147483883" r:id="rId6"/>
    <p:sldMasterId id="2147483884" r:id="rId7"/>
    <p:sldMasterId id="2147483885" r:id="rId8"/>
    <p:sldMasterId id="2147483886" r:id="rId9"/>
    <p:sldMasterId id="2147483887" r:id="rId10"/>
    <p:sldMasterId id="2147483888" r:id="rId11"/>
    <p:sldMasterId id="2147483889" r:id="rId12"/>
    <p:sldMasterId id="2147483890" r:id="rId13"/>
    <p:sldMasterId id="2147483891" r:id="rId14"/>
    <p:sldMasterId id="2147483892" r:id="rId15"/>
    <p:sldMasterId id="2147483893" r:id="rId16"/>
    <p:sldMasterId id="2147483894" r:id="rId17"/>
    <p:sldMasterId id="2147483895" r:id="rId18"/>
    <p:sldMasterId id="2147483896" r:id="rId19"/>
    <p:sldMasterId id="2147483897" r:id="rId20"/>
    <p:sldMasterId id="2147483898" r:id="rId21"/>
    <p:sldMasterId id="2147483899" r:id="rId22"/>
    <p:sldMasterId id="2147483900" r:id="rId23"/>
    <p:sldMasterId id="2147483901" r:id="rId24"/>
  </p:sldMasterIdLst>
  <p:notesMasterIdLst>
    <p:notesMasterId r:id="rId25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</p:sldIdLst>
  <p:sldSz cy="6858000" cx="9144000"/>
  <p:notesSz cx="6718300" cy="9855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AF232D88-4070-4367-AB5F-23133892A008}">
  <a:tblStyle styleId="{AF232D88-4070-4367-AB5F-23133892A0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15.xml"/><Relationship Id="rId42" Type="http://schemas.openxmlformats.org/officeDocument/2006/relationships/slide" Target="slides/slide17.xml"/><Relationship Id="rId41" Type="http://schemas.openxmlformats.org/officeDocument/2006/relationships/slide" Target="slides/slide16.xml"/><Relationship Id="rId44" Type="http://schemas.openxmlformats.org/officeDocument/2006/relationships/slide" Target="slides/slide19.xml"/><Relationship Id="rId43" Type="http://schemas.openxmlformats.org/officeDocument/2006/relationships/slide" Target="slides/slide18.xml"/><Relationship Id="rId46" Type="http://schemas.openxmlformats.org/officeDocument/2006/relationships/slide" Target="slides/slide21.xml"/><Relationship Id="rId45" Type="http://schemas.openxmlformats.org/officeDocument/2006/relationships/slide" Target="slides/slide20.xml"/><Relationship Id="rId1" Type="http://schemas.openxmlformats.org/officeDocument/2006/relationships/theme" Target="theme/theme1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23.xml"/><Relationship Id="rId47" Type="http://schemas.openxmlformats.org/officeDocument/2006/relationships/slide" Target="slides/slide22.xml"/><Relationship Id="rId49" Type="http://schemas.openxmlformats.org/officeDocument/2006/relationships/slide" Target="slides/slide24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6.xml"/><Relationship Id="rId30" Type="http://schemas.openxmlformats.org/officeDocument/2006/relationships/slide" Target="slides/slide5.xml"/><Relationship Id="rId33" Type="http://schemas.openxmlformats.org/officeDocument/2006/relationships/slide" Target="slides/slide8.xml"/><Relationship Id="rId32" Type="http://schemas.openxmlformats.org/officeDocument/2006/relationships/slide" Target="slides/slide7.xml"/><Relationship Id="rId35" Type="http://schemas.openxmlformats.org/officeDocument/2006/relationships/slide" Target="slides/slide10.xml"/><Relationship Id="rId34" Type="http://schemas.openxmlformats.org/officeDocument/2006/relationships/slide" Target="slides/slide9.xml"/><Relationship Id="rId37" Type="http://schemas.openxmlformats.org/officeDocument/2006/relationships/slide" Target="slides/slide12.xml"/><Relationship Id="rId36" Type="http://schemas.openxmlformats.org/officeDocument/2006/relationships/slide" Target="slides/slide11.xml"/><Relationship Id="rId39" Type="http://schemas.openxmlformats.org/officeDocument/2006/relationships/slide" Target="slides/slide14.xml"/><Relationship Id="rId38" Type="http://schemas.openxmlformats.org/officeDocument/2006/relationships/slide" Target="slides/slide13.xml"/><Relationship Id="rId62" Type="http://schemas.openxmlformats.org/officeDocument/2006/relationships/slide" Target="slides/slide37.xml"/><Relationship Id="rId61" Type="http://schemas.openxmlformats.org/officeDocument/2006/relationships/slide" Target="slides/slide36.xml"/><Relationship Id="rId20" Type="http://schemas.openxmlformats.org/officeDocument/2006/relationships/slideMaster" Target="slideMasters/slideMaster17.xml"/><Relationship Id="rId22" Type="http://schemas.openxmlformats.org/officeDocument/2006/relationships/slideMaster" Target="slideMasters/slideMaster19.xml"/><Relationship Id="rId21" Type="http://schemas.openxmlformats.org/officeDocument/2006/relationships/slideMaster" Target="slideMasters/slideMaster18.xml"/><Relationship Id="rId24" Type="http://schemas.openxmlformats.org/officeDocument/2006/relationships/slideMaster" Target="slideMasters/slideMaster21.xml"/><Relationship Id="rId23" Type="http://schemas.openxmlformats.org/officeDocument/2006/relationships/slideMaster" Target="slideMasters/slideMaster20.xml"/><Relationship Id="rId60" Type="http://schemas.openxmlformats.org/officeDocument/2006/relationships/slide" Target="slides/slide35.xml"/><Relationship Id="rId26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8" Type="http://schemas.openxmlformats.org/officeDocument/2006/relationships/slide" Target="slides/slide3.xml"/><Relationship Id="rId27" Type="http://schemas.openxmlformats.org/officeDocument/2006/relationships/slide" Target="slides/slide2.xml"/><Relationship Id="rId29" Type="http://schemas.openxmlformats.org/officeDocument/2006/relationships/slide" Target="slides/slide4.xml"/><Relationship Id="rId51" Type="http://schemas.openxmlformats.org/officeDocument/2006/relationships/slide" Target="slides/slide26.xml"/><Relationship Id="rId50" Type="http://schemas.openxmlformats.org/officeDocument/2006/relationships/slide" Target="slides/slide25.xml"/><Relationship Id="rId53" Type="http://schemas.openxmlformats.org/officeDocument/2006/relationships/slide" Target="slides/slide28.xml"/><Relationship Id="rId52" Type="http://schemas.openxmlformats.org/officeDocument/2006/relationships/slide" Target="slides/slide27.xml"/><Relationship Id="rId11" Type="http://schemas.openxmlformats.org/officeDocument/2006/relationships/slideMaster" Target="slideMasters/slideMaster8.xml"/><Relationship Id="rId55" Type="http://schemas.openxmlformats.org/officeDocument/2006/relationships/slide" Target="slides/slide30.xml"/><Relationship Id="rId10" Type="http://schemas.openxmlformats.org/officeDocument/2006/relationships/slideMaster" Target="slideMasters/slideMaster7.xml"/><Relationship Id="rId54" Type="http://schemas.openxmlformats.org/officeDocument/2006/relationships/slide" Target="slides/slide29.xml"/><Relationship Id="rId13" Type="http://schemas.openxmlformats.org/officeDocument/2006/relationships/slideMaster" Target="slideMasters/slideMaster10.xml"/><Relationship Id="rId57" Type="http://schemas.openxmlformats.org/officeDocument/2006/relationships/slide" Target="slides/slide32.xml"/><Relationship Id="rId12" Type="http://schemas.openxmlformats.org/officeDocument/2006/relationships/slideMaster" Target="slideMasters/slideMaster9.xml"/><Relationship Id="rId56" Type="http://schemas.openxmlformats.org/officeDocument/2006/relationships/slide" Target="slides/slide31.xml"/><Relationship Id="rId15" Type="http://schemas.openxmlformats.org/officeDocument/2006/relationships/slideMaster" Target="slideMasters/slideMaster12.xml"/><Relationship Id="rId59" Type="http://schemas.openxmlformats.org/officeDocument/2006/relationships/slide" Target="slides/slide34.xml"/><Relationship Id="rId14" Type="http://schemas.openxmlformats.org/officeDocument/2006/relationships/slideMaster" Target="slideMasters/slideMaster11.xml"/><Relationship Id="rId58" Type="http://schemas.openxmlformats.org/officeDocument/2006/relationships/slide" Target="slides/slide33.xml"/><Relationship Id="rId17" Type="http://schemas.openxmlformats.org/officeDocument/2006/relationships/slideMaster" Target="slideMasters/slideMaster14.xml"/><Relationship Id="rId16" Type="http://schemas.openxmlformats.org/officeDocument/2006/relationships/slideMaster" Target="slideMasters/slideMaster13.xml"/><Relationship Id="rId19" Type="http://schemas.openxmlformats.org/officeDocument/2006/relationships/slideMaster" Target="slideMasters/slideMaster16.xml"/><Relationship Id="rId18" Type="http://schemas.openxmlformats.org/officeDocument/2006/relationships/slideMaster" Target="slideMasters/slideMaster1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05237" y="0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3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20" name="Google Shape;1520;p3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521" name="Google Shape;1521;p3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6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6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9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9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0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10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3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13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4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73" name="Google Shape;1573;p14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74" name="Google Shape;1574;p14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16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16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9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08" name="Google Shape;1608;p19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09" name="Google Shape;1609;p19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22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22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25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28" name="Google Shape;1628;p25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29" name="Google Shape;1629;p25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26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37" name="Google Shape;1637;p26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38" name="Google Shape;1638;p26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29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47" name="Google Shape;1647;p29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48" name="Google Shape;1648;p29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32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32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35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5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38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76" name="Google Shape;1676;p38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677" name="Google Shape;1677;p38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39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9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42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42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45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45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46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46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49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49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50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50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51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51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54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54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57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57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60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66" name="Google Shape;1766;p60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767" name="Google Shape;1767;p60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62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62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63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63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66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66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69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69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72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72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75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75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77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59" name="Google Shape;1859;p77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860" name="Google Shape;1860;p77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78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67" name="Google Shape;1867;p78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868" name="Google Shape;1868;p78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79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76" name="Google Shape;1876;p79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77" name="Google Shape;1877;p79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80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84" name="Google Shape;1884;p80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885" name="Google Shape;1885;p80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81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93" name="Google Shape;1893;p81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894" name="Google Shape;1894;p81:notes"/>
          <p:cNvSpPr txBox="1"/>
          <p:nvPr/>
        </p:nvSpPr>
        <p:spPr>
          <a:xfrm>
            <a:off x="3805237" y="9361487"/>
            <a:ext cx="29114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82:notes"/>
          <p:cNvSpPr txBox="1"/>
          <p:nvPr>
            <p:ph idx="1" type="body"/>
          </p:nvPr>
        </p:nvSpPr>
        <p:spPr>
          <a:xfrm>
            <a:off x="671512" y="4743450"/>
            <a:ext cx="5375275" cy="3879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82:notes"/>
          <p:cNvSpPr/>
          <p:nvPr>
            <p:ph idx="2" type="sldImg"/>
          </p:nvPr>
        </p:nvSpPr>
        <p:spPr>
          <a:xfrm>
            <a:off x="1143000" y="1231900"/>
            <a:ext cx="4432300" cy="3325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457200" y="1600200"/>
            <a:ext cx="8229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hart" type="chart">
  <p:cSld name="CHAR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457200" y="115888"/>
            <a:ext cx="74279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2" name="Google Shape;92;p15"/>
          <p:cNvSpPr/>
          <p:nvPr>
            <p:ph idx="2" type="chart"/>
          </p:nvPr>
        </p:nvSpPr>
        <p:spPr>
          <a:xfrm>
            <a:off x="457200" y="1600200"/>
            <a:ext cx="8229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3429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85750" lvl="1" marL="74295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600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057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514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2971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429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3886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ctr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 rot="5400000">
            <a:off x="4453731" y="2291557"/>
            <a:ext cx="640873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 rot="5400000">
            <a:off x="262732" y="310357"/>
            <a:ext cx="6408737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 rot="5400000">
            <a:off x="2109787" y="-52388"/>
            <a:ext cx="49244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b="1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1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457200" y="1600200"/>
            <a:ext cx="4038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b="1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2" type="body"/>
          </p:nvPr>
        </p:nvSpPr>
        <p:spPr>
          <a:xfrm>
            <a:off x="4648200" y="1600200"/>
            <a:ext cx="4038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b="1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3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3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3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9" name="Google Shape;179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3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5" name="Google Shape;185;p3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hart" type="chart">
  <p:cSld name="CHAR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type="title"/>
          </p:nvPr>
        </p:nvSpPr>
        <p:spPr>
          <a:xfrm>
            <a:off x="457200" y="115888"/>
            <a:ext cx="74279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06" name="Google Shape;206;p39"/>
          <p:cNvSpPr/>
          <p:nvPr>
            <p:ph idx="2" type="chart"/>
          </p:nvPr>
        </p:nvSpPr>
        <p:spPr>
          <a:xfrm>
            <a:off x="457200" y="1600200"/>
            <a:ext cx="8229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3429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85750" lvl="1" marL="74295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600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057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514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2971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429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3886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/>
          <p:nvPr>
            <p:ph type="title"/>
          </p:nvPr>
        </p:nvSpPr>
        <p:spPr>
          <a:xfrm rot="5400000">
            <a:off x="4453731" y="2291557"/>
            <a:ext cx="640873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09" name="Google Shape;209;p40"/>
          <p:cNvSpPr txBox="1"/>
          <p:nvPr>
            <p:ph idx="1" type="body"/>
          </p:nvPr>
        </p:nvSpPr>
        <p:spPr>
          <a:xfrm rot="5400000">
            <a:off x="262732" y="310357"/>
            <a:ext cx="6408737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12" name="Google Shape;212;p41"/>
          <p:cNvSpPr txBox="1"/>
          <p:nvPr>
            <p:ph idx="1" type="body"/>
          </p:nvPr>
        </p:nvSpPr>
        <p:spPr>
          <a:xfrm rot="5400000">
            <a:off x="2109787" y="-52388"/>
            <a:ext cx="49244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15" name="Google Shape;215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b="1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19" name="Google Shape;219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1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0" name="Google Shape;220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5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26" name="Google Shape;226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7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32" name="Google Shape;232;p47"/>
          <p:cNvSpPr txBox="1"/>
          <p:nvPr>
            <p:ph idx="1" type="body"/>
          </p:nvPr>
        </p:nvSpPr>
        <p:spPr>
          <a:xfrm>
            <a:off x="457200" y="1600200"/>
            <a:ext cx="4038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b="1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47"/>
          <p:cNvSpPr txBox="1"/>
          <p:nvPr>
            <p:ph idx="2" type="body"/>
          </p:nvPr>
        </p:nvSpPr>
        <p:spPr>
          <a:xfrm>
            <a:off x="4648200" y="1600200"/>
            <a:ext cx="4038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b="1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36" name="Google Shape;236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9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39" name="Google Shape;239;p49"/>
          <p:cNvSpPr txBox="1"/>
          <p:nvPr>
            <p:ph idx="1" type="body"/>
          </p:nvPr>
        </p:nvSpPr>
        <p:spPr>
          <a:xfrm>
            <a:off x="457200" y="1600200"/>
            <a:ext cx="8229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ctr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52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2" name="Google Shape;252;p5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3" name="Google Shape;253;p5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4" name="Google Shape;254;p5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3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7" name="Google Shape;257;p53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8" name="Google Shape;258;p5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9" name="Google Shape;259;p5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5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3" name="Google Shape;263;p54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4" name="Google Shape;264;p5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5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6" name="Google Shape;266;p5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5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5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1" name="Google Shape;271;p5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2" name="Google Shape;272;p5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3" name="Google Shape;273;p5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6" name="Google Shape;276;p5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7" name="Google Shape;277;p5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8" name="Google Shape;278;p5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9" name="Google Shape;279;p5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0" name="Google Shape;280;p5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3" name="Google Shape;283;p5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4" name="Google Shape;284;p5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7" name="Google Shape;287;p5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8" name="Google Shape;288;p5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5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5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5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4" name="Google Shape;294;p5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5" name="Google Shape;295;p5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6" name="Google Shape;296;p5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7" name="Google Shape;297;p5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8" name="Google Shape;298;p5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6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6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6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6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5" name="Google Shape;305;p6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1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8" name="Google Shape;308;p61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9" name="Google Shape;309;p6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0" name="Google Shape;310;p6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1" name="Google Shape;311;p6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6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5" name="Google Shape;315;p6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6" name="Google Shape;316;p6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p6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6" name="Google Shape;326;p6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7" name="Google Shape;327;p6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8" name="Google Shape;328;p6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9" name="Google Shape;329;p6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0" name="Google Shape;330;p6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1" name="Google Shape;331;p6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2" name="Google Shape;332;p6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5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65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6" name="Google Shape;336;p6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7" name="Google Shape;337;p6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8" name="Google Shape;338;p6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1" name="Google Shape;341;p66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2" name="Google Shape;342;p6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3" name="Google Shape;343;p6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4" name="Google Shape;344;p6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7" name="Google Shape;347;p6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8" name="Google Shape;348;p6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9" name="Google Shape;349;p6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0" name="Google Shape;350;p6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1" name="Google Shape;351;p6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4" name="Google Shape;354;p6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5" name="Google Shape;355;p6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6" name="Google Shape;356;p6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7" name="Google Shape;357;p6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8" name="Google Shape;358;p6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1" name="Google Shape;361;p6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2" name="Google Shape;362;p6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5" name="Google Shape;365;p7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6" name="Google Shape;366;p7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7" name="Google Shape;367;p7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0" name="Google Shape;370;p71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1" name="Google Shape;371;p71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2" name="Google Shape;372;p7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3" name="Google Shape;373;p7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4" name="Google Shape;374;p7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7" name="Google Shape;377;p72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8" name="Google Shape;378;p7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9" name="Google Shape;379;p7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0" name="Google Shape;380;p7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3" name="Google Shape;383;p7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4" name="Google Shape;384;p7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5" name="Google Shape;385;p7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6" name="Google Shape;386;p7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9" name="Google Shape;389;p7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0" name="Google Shape;390;p7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1" name="Google Shape;391;p7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2" name="Google Shape;392;p7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1" name="Google Shape;401;p76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2" name="Google Shape;402;p7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3" name="Google Shape;403;p7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4" name="Google Shape;404;p7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7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7" name="Google Shape;407;p77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8" name="Google Shape;408;p7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9" name="Google Shape;409;p7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0" name="Google Shape;410;p7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3" name="Google Shape;413;p78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4" name="Google Shape;414;p7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5" name="Google Shape;415;p7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6" name="Google Shape;416;p7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9" name="Google Shape;419;p7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0" name="Google Shape;420;p7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1" name="Google Shape;421;p7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2" name="Google Shape;422;p7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3" name="Google Shape;423;p7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6" name="Google Shape;426;p8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7" name="Google Shape;427;p8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8" name="Google Shape;428;p8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9" name="Google Shape;429;p8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0" name="Google Shape;430;p8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3" name="Google Shape;433;p8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4" name="Google Shape;434;p8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7" name="Google Shape;437;p8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8" name="Google Shape;438;p8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9" name="Google Shape;439;p8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3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2" name="Google Shape;442;p83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3" name="Google Shape;443;p83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4" name="Google Shape;444;p83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5" name="Google Shape;445;p83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6" name="Google Shape;446;p8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7" name="Google Shape;447;p8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8" name="Google Shape;448;p8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1" name="Google Shape;451;p8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2" name="Google Shape;452;p8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3" name="Google Shape;453;p8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4" name="Google Shape;454;p8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5" name="Google Shape;455;p8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8" name="Google Shape;458;p8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9" name="Google Shape;459;p8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0" name="Google Shape;460;p8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1" name="Google Shape;461;p8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6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4" name="Google Shape;464;p8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5" name="Google Shape;465;p8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6" name="Google Shape;466;p8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7" name="Google Shape;467;p8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6" name="Google Shape;476;p88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7" name="Google Shape;477;p8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8" name="Google Shape;478;p8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9" name="Google Shape;479;p8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9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2" name="Google Shape;482;p89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3" name="Google Shape;483;p8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4" name="Google Shape;484;p8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5" name="Google Shape;485;p8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9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8" name="Google Shape;488;p90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9" name="Google Shape;489;p9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0" name="Google Shape;490;p9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1" name="Google Shape;491;p9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4" name="Google Shape;494;p9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5" name="Google Shape;495;p9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6" name="Google Shape;496;p9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7" name="Google Shape;497;p9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8" name="Google Shape;498;p9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1" name="Google Shape;501;p9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2" name="Google Shape;502;p9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3" name="Google Shape;503;p9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4" name="Google Shape;504;p9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5" name="Google Shape;505;p9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9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8" name="Google Shape;508;p9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9" name="Google Shape;509;p9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2" name="Google Shape;512;p9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3" name="Google Shape;513;p9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4" name="Google Shape;514;p9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7" name="Google Shape;517;p9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8" name="Google Shape;518;p9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9" name="Google Shape;519;p9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0" name="Google Shape;520;p9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1" name="Google Shape;521;p9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2" name="Google Shape;522;p9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3" name="Google Shape;523;p9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9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6" name="Google Shape;526;p9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7" name="Google Shape;527;p9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8" name="Google Shape;528;p9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9" name="Google Shape;529;p9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0" name="Google Shape;530;p9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9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3" name="Google Shape;533;p9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4" name="Google Shape;534;p9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5" name="Google Shape;535;p9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6" name="Google Shape;536;p9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8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9" name="Google Shape;539;p9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0" name="Google Shape;540;p9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1" name="Google Shape;541;p9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2" name="Google Shape;542;p9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0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1" name="Google Shape;551;p100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2" name="Google Shape;552;p10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3" name="Google Shape;553;p10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4" name="Google Shape;554;p10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01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7" name="Google Shape;557;p101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8" name="Google Shape;558;p10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9" name="Google Shape;559;p10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0" name="Google Shape;560;p10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0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3" name="Google Shape;563;p102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4" name="Google Shape;564;p10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5" name="Google Shape;565;p10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6" name="Google Shape;566;p10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0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9" name="Google Shape;569;p10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0" name="Google Shape;570;p10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1" name="Google Shape;571;p10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2" name="Google Shape;572;p10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3" name="Google Shape;573;p10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0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6" name="Google Shape;576;p10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7" name="Google Shape;577;p10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8" name="Google Shape;578;p10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9" name="Google Shape;579;p10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0" name="Google Shape;580;p10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3" name="Google Shape;583;p10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4" name="Google Shape;584;p10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0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7" name="Google Shape;587;p10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8" name="Google Shape;588;p10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9" name="Google Shape;589;p10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0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2" name="Google Shape;592;p10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3" name="Google Shape;593;p10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4" name="Google Shape;594;p10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5" name="Google Shape;595;p10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6" name="Google Shape;596;p10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7" name="Google Shape;597;p10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8" name="Google Shape;598;p10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0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1" name="Google Shape;601;p10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2" name="Google Shape;602;p10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3" name="Google Shape;603;p10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4" name="Google Shape;604;p10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5" name="Google Shape;605;p10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09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8" name="Google Shape;608;p109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9" name="Google Shape;609;p10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0" name="Google Shape;610;p10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1" name="Google Shape;611;p10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10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4" name="Google Shape;614;p11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5" name="Google Shape;615;p1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6" name="Google Shape;616;p1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7" name="Google Shape;617;p1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1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6" name="Google Shape;626;p112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7" name="Google Shape;627;p1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8" name="Google Shape;628;p1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9" name="Google Shape;629;p1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13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2" name="Google Shape;632;p113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3" name="Google Shape;633;p1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4" name="Google Shape;634;p1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5" name="Google Shape;635;p1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1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8" name="Google Shape;638;p114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9" name="Google Shape;639;p1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0" name="Google Shape;640;p1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1" name="Google Shape;641;p1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4" name="Google Shape;644;p11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5" name="Google Shape;645;p11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6" name="Google Shape;646;p1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7" name="Google Shape;647;p1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8" name="Google Shape;648;p1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1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1" name="Google Shape;651;p11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2" name="Google Shape;652;p11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3" name="Google Shape;653;p1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4" name="Google Shape;654;p1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5" name="Google Shape;655;p1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8" name="Google Shape;658;p1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9" name="Google Shape;659;p1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1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2" name="Google Shape;662;p1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3" name="Google Shape;663;p1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4" name="Google Shape;664;p1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7" name="Google Shape;667;p11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8" name="Google Shape;668;p11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9" name="Google Shape;669;p11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0" name="Google Shape;670;p11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1" name="Google Shape;671;p1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2" name="Google Shape;672;p1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3" name="Google Shape;673;p1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2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6" name="Google Shape;676;p12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7" name="Google Shape;677;p12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8" name="Google Shape;678;p1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9" name="Google Shape;679;p1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0" name="Google Shape;680;p1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21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3" name="Google Shape;683;p121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4" name="Google Shape;684;p1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5" name="Google Shape;685;p1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6" name="Google Shape;686;p1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2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9" name="Google Shape;689;p12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0" name="Google Shape;690;p1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1" name="Google Shape;691;p1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2" name="Google Shape;692;p1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2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1" name="Google Shape;701;p124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2" name="Google Shape;702;p1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3" name="Google Shape;703;p1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4" name="Google Shape;704;p1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25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7" name="Google Shape;707;p125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8" name="Google Shape;708;p1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9" name="Google Shape;709;p1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0" name="Google Shape;710;p1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2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3" name="Google Shape;713;p126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4" name="Google Shape;714;p1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5" name="Google Shape;715;p1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6" name="Google Shape;716;p1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2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9" name="Google Shape;719;p12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0" name="Google Shape;720;p12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1" name="Google Shape;721;p1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2" name="Google Shape;722;p1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3" name="Google Shape;723;p1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2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6" name="Google Shape;726;p12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7" name="Google Shape;727;p12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8" name="Google Shape;728;p1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9" name="Google Shape;729;p1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0" name="Google Shape;730;p1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3" name="Google Shape;733;p1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4" name="Google Shape;734;p1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3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7" name="Google Shape;737;p1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8" name="Google Shape;738;p1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9" name="Google Shape;739;p1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3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2" name="Google Shape;742;p13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3" name="Google Shape;743;p13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4" name="Google Shape;744;p13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5" name="Google Shape;745;p13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6" name="Google Shape;746;p1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7" name="Google Shape;747;p1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8" name="Google Shape;748;p1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3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1" name="Google Shape;751;p132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2" name="Google Shape;752;p132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3" name="Google Shape;753;p1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4" name="Google Shape;754;p1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5" name="Google Shape;755;p1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3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8" name="Google Shape;758;p133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9" name="Google Shape;759;p1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0" name="Google Shape;760;p1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1" name="Google Shape;761;p1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3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4" name="Google Shape;764;p13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5" name="Google Shape;765;p1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6" name="Google Shape;766;p1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7" name="Google Shape;767;p1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3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6" name="Google Shape;776;p136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7" name="Google Shape;777;p1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8" name="Google Shape;778;p1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9" name="Google Shape;779;p1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37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2" name="Google Shape;782;p137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3" name="Google Shape;783;p1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4" name="Google Shape;784;p1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5" name="Google Shape;785;p1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3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8" name="Google Shape;788;p138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9" name="Google Shape;789;p13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0" name="Google Shape;790;p13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1" name="Google Shape;791;p13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3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4" name="Google Shape;794;p13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5" name="Google Shape;795;p13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6" name="Google Shape;796;p13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7" name="Google Shape;797;p13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8" name="Google Shape;798;p13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4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1" name="Google Shape;801;p14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2" name="Google Shape;802;p14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3" name="Google Shape;803;p14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4" name="Google Shape;804;p14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5" name="Google Shape;805;p14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4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8" name="Google Shape;808;p14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9" name="Google Shape;809;p14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4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2" name="Google Shape;812;p14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3" name="Google Shape;813;p14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4" name="Google Shape;814;p14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43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7" name="Google Shape;817;p143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8" name="Google Shape;818;p143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9" name="Google Shape;819;p143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0" name="Google Shape;820;p143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1" name="Google Shape;821;p14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2" name="Google Shape;822;p14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3" name="Google Shape;823;p14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4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6" name="Google Shape;826;p14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7" name="Google Shape;827;p14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8" name="Google Shape;828;p14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9" name="Google Shape;829;p14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0" name="Google Shape;830;p14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4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3" name="Google Shape;833;p14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4" name="Google Shape;834;p14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5" name="Google Shape;835;p14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6" name="Google Shape;836;p14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46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9" name="Google Shape;839;p14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0" name="Google Shape;840;p14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1" name="Google Shape;841;p14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2" name="Google Shape;842;p14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4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1" name="Google Shape;851;p14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2" name="Google Shape;852;p14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3" name="Google Shape;853;p14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4" name="Google Shape;854;p14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5" name="Google Shape;855;p14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6" name="Google Shape;856;p14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7" name="Google Shape;857;p14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49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0" name="Google Shape;860;p149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1" name="Google Shape;861;p14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2" name="Google Shape;862;p14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3" name="Google Shape;863;p14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5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6" name="Google Shape;866;p150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7" name="Google Shape;867;p15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8" name="Google Shape;868;p15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9" name="Google Shape;869;p15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5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2" name="Google Shape;872;p15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3" name="Google Shape;873;p15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4" name="Google Shape;874;p15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5" name="Google Shape;875;p15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6" name="Google Shape;876;p15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5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9" name="Google Shape;879;p15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0" name="Google Shape;880;p15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1" name="Google Shape;881;p15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2" name="Google Shape;882;p15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3" name="Google Shape;883;p15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5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6" name="Google Shape;886;p15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7" name="Google Shape;887;p15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5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0" name="Google Shape;890;p15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1" name="Google Shape;891;p15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2" name="Google Shape;892;p15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5" name="Google Shape;895;p15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6" name="Google Shape;896;p15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7" name="Google Shape;897;p15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8" name="Google Shape;898;p15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9" name="Google Shape;899;p15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5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2" name="Google Shape;902;p15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3" name="Google Shape;903;p15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4" name="Google Shape;904;p15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5" name="Google Shape;905;p15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5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8" name="Google Shape;908;p15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9" name="Google Shape;909;p15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0" name="Google Shape;910;p15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1" name="Google Shape;911;p15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58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4" name="Google Shape;914;p15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5" name="Google Shape;915;p15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6" name="Google Shape;916;p15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7" name="Google Shape;917;p15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6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6" name="Google Shape;926;p16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7" name="Google Shape;927;p16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8" name="Google Shape;928;p16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9" name="Google Shape;929;p16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0" name="Google Shape;930;p16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61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3" name="Google Shape;933;p161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4" name="Google Shape;934;p16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5" name="Google Shape;935;p16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6" name="Google Shape;936;p16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6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9" name="Google Shape;939;p162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0" name="Google Shape;940;p16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1" name="Google Shape;941;p16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2" name="Google Shape;942;p16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6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5" name="Google Shape;945;p16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6" name="Google Shape;946;p16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7" name="Google Shape;947;p16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8" name="Google Shape;948;p16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9" name="Google Shape;949;p16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6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2" name="Google Shape;952;p16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3" name="Google Shape;953;p16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4" name="Google Shape;954;p16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5" name="Google Shape;955;p16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6" name="Google Shape;956;p16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6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9" name="Google Shape;959;p16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0" name="Google Shape;960;p16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6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3" name="Google Shape;963;p16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4" name="Google Shape;964;p16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5" name="Google Shape;965;p16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6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8" name="Google Shape;968;p16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9" name="Google Shape;969;p16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0" name="Google Shape;970;p16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1" name="Google Shape;971;p16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2" name="Google Shape;972;p16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3" name="Google Shape;973;p16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4" name="Google Shape;974;p16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6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7" name="Google Shape;977;p16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8" name="Google Shape;978;p16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9" name="Google Shape;979;p16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0" name="Google Shape;980;p16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6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3" name="Google Shape;983;p16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4" name="Google Shape;984;p16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5" name="Google Shape;985;p16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6" name="Google Shape;986;p16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70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9" name="Google Shape;989;p17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0" name="Google Shape;990;p17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1" name="Google Shape;991;p17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2" name="Google Shape;992;p17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7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1" name="Google Shape;1001;p17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2" name="Google Shape;1002;p172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3" name="Google Shape;1003;p17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4" name="Google Shape;1004;p172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5" name="Google Shape;1005;p17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6" name="Google Shape;1006;p17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7" name="Google Shape;1007;p17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73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0" name="Google Shape;1010;p173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1" name="Google Shape;1011;p17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2" name="Google Shape;1012;p17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3" name="Google Shape;1013;p17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7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6" name="Google Shape;1016;p174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7" name="Google Shape;1017;p17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8" name="Google Shape;1018;p17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9" name="Google Shape;1019;p17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7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2" name="Google Shape;1022;p17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3" name="Google Shape;1023;p17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4" name="Google Shape;1024;p17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5" name="Google Shape;1025;p17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6" name="Google Shape;1026;p17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7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9" name="Google Shape;1029;p17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0" name="Google Shape;1030;p17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1" name="Google Shape;1031;p17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2" name="Google Shape;1032;p17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3" name="Google Shape;1033;p17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7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6" name="Google Shape;1036;p17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7" name="Google Shape;1037;p17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7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0" name="Google Shape;1040;p17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1" name="Google Shape;1041;p17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2" name="Google Shape;1042;p17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7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5" name="Google Shape;1045;p17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6" name="Google Shape;1046;p17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7" name="Google Shape;1047;p17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" name="Google Shape;1048;p17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9" name="Google Shape;1049;p17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8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2" name="Google Shape;1052;p180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3" name="Google Shape;1053;p18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4" name="Google Shape;1054;p18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5" name="Google Shape;1055;p18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8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8" name="Google Shape;1058;p18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9" name="Google Shape;1059;p18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0" name="Google Shape;1060;p18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1" name="Google Shape;1061;p18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8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4" name="Google Shape;1064;p18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5" name="Google Shape;1065;p18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6" name="Google Shape;1066;p18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7" name="Google Shape;1067;p18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8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6" name="Google Shape;1076;p18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7" name="Google Shape;1077;p18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8" name="Google Shape;1078;p18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9" name="Google Shape;1079;p18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0" name="Google Shape;1080;p18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85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3" name="Google Shape;1083;p185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4" name="Google Shape;1084;p18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5" name="Google Shape;1085;p18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6" name="Google Shape;1086;p18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8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9" name="Google Shape;1089;p186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0" name="Google Shape;1090;p18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1" name="Google Shape;1091;p18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2" name="Google Shape;1092;p18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8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5" name="Google Shape;1095;p18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6" name="Google Shape;1096;p18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7" name="Google Shape;1097;p18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8" name="Google Shape;1098;p18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9" name="Google Shape;1099;p18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8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2" name="Google Shape;1102;p18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3" name="Google Shape;1103;p18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4" name="Google Shape;1104;p18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5" name="Google Shape;1105;p18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6" name="Google Shape;1106;p18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8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9" name="Google Shape;1109;p18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0" name="Google Shape;1110;p18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9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3" name="Google Shape;1113;p19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4" name="Google Shape;1114;p19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5" name="Google Shape;1115;p19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9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8" name="Google Shape;1118;p19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9" name="Google Shape;1119;p19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0" name="Google Shape;1120;p19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1" name="Google Shape;1121;p19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2" name="Google Shape;1122;p19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3" name="Google Shape;1123;p19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4" name="Google Shape;1124;p19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9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7" name="Google Shape;1127;p192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8" name="Google Shape;1128;p19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9" name="Google Shape;1129;p19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0" name="Google Shape;1130;p19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19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3" name="Google Shape;1133;p19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4" name="Google Shape;1134;p19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5" name="Google Shape;1135;p19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6" name="Google Shape;1136;p19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19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9" name="Google Shape;1139;p19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0" name="Google Shape;1140;p19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1" name="Google Shape;1141;p19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2" name="Google Shape;1142;p19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9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1" name="Google Shape;1151;p19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2" name="Google Shape;1152;p19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3" name="Google Shape;1153;p19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4" name="Google Shape;1154;p19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5" name="Google Shape;1155;p19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6" name="Google Shape;1156;p19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7" name="Google Shape;1157;p19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97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0" name="Google Shape;1160;p197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1" name="Google Shape;1161;p19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2" name="Google Shape;1162;p19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3" name="Google Shape;1163;p19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9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6" name="Google Shape;1166;p198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7" name="Google Shape;1167;p19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8" name="Google Shape;1168;p19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9" name="Google Shape;1169;p19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9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2" name="Google Shape;1172;p19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3" name="Google Shape;1173;p19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4" name="Google Shape;1174;p19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5" name="Google Shape;1175;p19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6" name="Google Shape;1176;p19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20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9" name="Google Shape;1179;p20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0" name="Google Shape;1180;p20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1" name="Google Shape;1181;p20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2" name="Google Shape;1182;p20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3" name="Google Shape;1183;p20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0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6" name="Google Shape;1186;p20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7" name="Google Shape;1187;p20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20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0" name="Google Shape;1190;p20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1" name="Google Shape;1191;p20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2" name="Google Shape;1192;p20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20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5" name="Google Shape;1195;p203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6" name="Google Shape;1196;p203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7" name="Google Shape;1197;p20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8" name="Google Shape;1198;p20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9" name="Google Shape;1199;p20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20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2" name="Google Shape;1202;p20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3" name="Google Shape;1203;p20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4" name="Google Shape;1204;p20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5" name="Google Shape;1205;p20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0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8" name="Google Shape;1208;p20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9" name="Google Shape;1209;p20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0" name="Google Shape;1210;p20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1" name="Google Shape;1211;p20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206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4" name="Google Shape;1214;p20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5" name="Google Shape;1215;p20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6" name="Google Shape;1216;p20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7" name="Google Shape;1217;p20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20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6" name="Google Shape;1226;p20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7" name="Google Shape;1227;p20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8" name="Google Shape;1228;p20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9" name="Google Shape;1229;p20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0" name="Google Shape;1230;p20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09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3" name="Google Shape;1233;p209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4" name="Google Shape;1234;p20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5" name="Google Shape;1235;p20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6" name="Google Shape;1236;p20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21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9" name="Google Shape;1239;p210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0" name="Google Shape;1240;p2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1" name="Google Shape;1241;p2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2" name="Google Shape;1242;p2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2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5" name="Google Shape;1245;p21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6" name="Google Shape;1246;p21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7" name="Google Shape;1247;p2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8" name="Google Shape;1248;p2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9" name="Google Shape;1249;p2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2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2" name="Google Shape;1252;p21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3" name="Google Shape;1253;p21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4" name="Google Shape;1254;p2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5" name="Google Shape;1255;p2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6" name="Google Shape;1256;p2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2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9" name="Google Shape;1259;p2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0" name="Google Shape;1260;p2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21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3" name="Google Shape;1263;p2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4" name="Google Shape;1264;p2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5" name="Google Shape;1265;p2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21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8" name="Google Shape;1268;p21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9" name="Google Shape;1269;p21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0" name="Google Shape;1270;p21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1" name="Google Shape;1271;p21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2" name="Google Shape;1272;p2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3" name="Google Shape;1273;p2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4" name="Google Shape;1274;p2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21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7" name="Google Shape;1277;p21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8" name="Google Shape;1278;p2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9" name="Google Shape;1279;p2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0" name="Google Shape;1280;p2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21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3" name="Google Shape;1283;p21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4" name="Google Shape;1284;p2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5" name="Google Shape;1285;p2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6" name="Google Shape;1286;p2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218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9" name="Google Shape;1289;p2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0" name="Google Shape;1290;p2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1" name="Google Shape;1291;p2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2" name="Google Shape;1292;p2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22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1" name="Google Shape;1301;p22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2" name="Google Shape;1302;p22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3" name="Google Shape;1303;p2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4" name="Google Shape;1304;p2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5" name="Google Shape;1305;p2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221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8" name="Google Shape;1308;p221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9" name="Google Shape;1309;p2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0" name="Google Shape;1310;p2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1" name="Google Shape;1311;p2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22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4" name="Google Shape;1314;p222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5" name="Google Shape;1315;p2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6" name="Google Shape;1316;p2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7" name="Google Shape;1317;p2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22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0" name="Google Shape;1320;p22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1" name="Google Shape;1321;p22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2" name="Google Shape;1322;p2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3" name="Google Shape;1323;p2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4" name="Google Shape;1324;p2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2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7" name="Google Shape;1327;p22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8" name="Google Shape;1328;p22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9" name="Google Shape;1329;p2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0" name="Google Shape;1330;p2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1" name="Google Shape;1331;p2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2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4" name="Google Shape;1334;p2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5" name="Google Shape;1335;p2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22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8" name="Google Shape;1338;p2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9" name="Google Shape;1339;p2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0" name="Google Shape;1340;p2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22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3" name="Google Shape;1343;p22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4" name="Google Shape;1344;p22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5" name="Google Shape;1345;p22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6" name="Google Shape;1346;p22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7" name="Google Shape;1347;p2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8" name="Google Shape;1348;p2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9" name="Google Shape;1349;p2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22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2" name="Google Shape;1352;p22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3" name="Google Shape;1353;p2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4" name="Google Shape;1354;p2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5" name="Google Shape;1355;p2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22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8" name="Google Shape;1358;p22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9" name="Google Shape;1359;p2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0" name="Google Shape;1360;p2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1" name="Google Shape;1361;p2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230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4" name="Google Shape;1364;p23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5" name="Google Shape;1365;p2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6" name="Google Shape;1366;p2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7" name="Google Shape;1367;p2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23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6" name="Google Shape;1376;p232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7" name="Google Shape;1377;p232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8" name="Google Shape;1378;p2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9" name="Google Shape;1379;p2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0" name="Google Shape;1380;p2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233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3" name="Google Shape;1383;p233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4" name="Google Shape;1384;p2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5" name="Google Shape;1385;p2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6" name="Google Shape;1386;p2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23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9" name="Google Shape;1389;p234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0" name="Google Shape;1390;p2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1" name="Google Shape;1391;p2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2" name="Google Shape;1392;p2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3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5" name="Google Shape;1395;p23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6" name="Google Shape;1396;p23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7" name="Google Shape;1397;p2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8" name="Google Shape;1398;p2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9" name="Google Shape;1399;p2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23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2" name="Google Shape;1402;p23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3" name="Google Shape;1403;p23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4" name="Google Shape;1404;p2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5" name="Google Shape;1405;p2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6" name="Google Shape;1406;p2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2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9" name="Google Shape;1409;p2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0" name="Google Shape;1410;p2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23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3" name="Google Shape;1413;p23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4" name="Google Shape;1414;p23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5" name="Google Shape;1415;p23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23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8" name="Google Shape;1418;p23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9" name="Google Shape;1419;p23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0" name="Google Shape;1420;p23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1" name="Google Shape;1421;p23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2" name="Google Shape;1422;p23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3" name="Google Shape;1423;p23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4" name="Google Shape;1424;p23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24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7" name="Google Shape;1427;p240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8" name="Google Shape;1428;p24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9" name="Google Shape;1429;p24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0" name="Google Shape;1430;p24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24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3" name="Google Shape;1433;p24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4" name="Google Shape;1434;p24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5" name="Google Shape;1435;p24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6" name="Google Shape;1436;p24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24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9" name="Google Shape;1439;p24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0" name="Google Shape;1440;p24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1" name="Google Shape;1441;p24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2" name="Google Shape;1442;p24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24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1" name="Google Shape;1451;p244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2" name="Google Shape;1452;p24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3" name="Google Shape;1453;p24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4" name="Google Shape;1454;p24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245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7" name="Google Shape;1457;p245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8" name="Google Shape;1458;p24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9" name="Google Shape;1459;p24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0" name="Google Shape;1460;p24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24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3" name="Google Shape;1463;p246"/>
          <p:cNvSpPr txBox="1"/>
          <p:nvPr>
            <p:ph idx="1" type="body"/>
          </p:nvPr>
        </p:nvSpPr>
        <p:spPr>
          <a:xfrm rot="5400000">
            <a:off x="2396331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4" name="Google Shape;1464;p24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5" name="Google Shape;1465;p24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6" name="Google Shape;1466;p24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24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9" name="Google Shape;1469;p24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0" name="Google Shape;1470;p24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1" name="Google Shape;1471;p24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2" name="Google Shape;1472;p24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3" name="Google Shape;1473;p24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24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6" name="Google Shape;1476;p24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7" name="Google Shape;1477;p24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8" name="Google Shape;1478;p24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9" name="Google Shape;1479;p24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0" name="Google Shape;1480;p24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24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3" name="Google Shape;1483;p24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4" name="Google Shape;1484;p24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25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7" name="Google Shape;1487;p25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8" name="Google Shape;1488;p25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9" name="Google Shape;1489;p25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25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2" name="Google Shape;1492;p25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3" name="Google Shape;1493;p25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4" name="Google Shape;1494;p25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5" name="Google Shape;1495;p25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6" name="Google Shape;1496;p25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7" name="Google Shape;1497;p25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8" name="Google Shape;1498;p25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5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1" name="Google Shape;1501;p252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2" name="Google Shape;1502;p252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3" name="Google Shape;1503;p25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4" name="Google Shape;1504;p25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5" name="Google Shape;1505;p25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25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8" name="Google Shape;1508;p253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9" name="Google Shape;1509;p25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0" name="Google Shape;1510;p25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1" name="Google Shape;1511;p25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25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4" name="Google Shape;1514;p25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5" name="Google Shape;1515;p25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6" name="Google Shape;1516;p25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7" name="Google Shape;1517;p25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0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theme" Target="../theme/theme20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21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57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3" Type="http://schemas.openxmlformats.org/officeDocument/2006/relationships/theme" Target="../theme/theme9.xml"/><Relationship Id="rId12" Type="http://schemas.openxmlformats.org/officeDocument/2006/relationships/slideLayout" Target="../slideLayouts/slideLayout68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3" Type="http://schemas.openxmlformats.org/officeDocument/2006/relationships/theme" Target="../theme/theme12.xml"/><Relationship Id="rId12" Type="http://schemas.openxmlformats.org/officeDocument/2006/relationships/slideLayout" Target="../slideLayouts/slideLayout79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/Relationships>
</file>

<file path=ppt/slideMasters/_rels/slideMaster8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3" Type="http://schemas.openxmlformats.org/officeDocument/2006/relationships/theme" Target="../theme/theme16.xml"/><Relationship Id="rId12" Type="http://schemas.openxmlformats.org/officeDocument/2006/relationships/slideLayout" Target="../slideLayouts/slideLayout90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/Relationships>
</file>

<file path=ppt/slideMasters/_rels/slideMaster9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9.xml"/><Relationship Id="rId13" Type="http://schemas.openxmlformats.org/officeDocument/2006/relationships/theme" Target="../theme/theme17.xml"/><Relationship Id="rId12" Type="http://schemas.openxmlformats.org/officeDocument/2006/relationships/slideLayout" Target="../slideLayouts/slideLayout10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6.xml"/><Relationship Id="rId8" Type="http://schemas.openxmlformats.org/officeDocument/2006/relationships/slideLayout" Target="../slideLayouts/slideLayout97.xml"/></Relationships>
</file>

<file path=ppt/slideMasters/_rels/slideMaster10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3" Type="http://schemas.openxmlformats.org/officeDocument/2006/relationships/theme" Target="../theme/theme7.xml"/><Relationship Id="rId12" Type="http://schemas.openxmlformats.org/officeDocument/2006/relationships/slideLayout" Target="../slideLayouts/slideLayout11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8.xml"/></Relationships>
</file>

<file path=ppt/slideMasters/_rels/slideMaster1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1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12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9.xml"/></Relationships>
</file>

<file path=ppt/slideMasters/_rels/slideMaster1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2.xml"/><Relationship Id="rId13" Type="http://schemas.openxmlformats.org/officeDocument/2006/relationships/theme" Target="../theme/theme18.xml"/><Relationship Id="rId12" Type="http://schemas.openxmlformats.org/officeDocument/2006/relationships/slideLayout" Target="../slideLayouts/slideLayout134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30.xml"/></Relationships>
</file>

<file path=ppt/slideMasters/_rels/slideMaster1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143.xml"/><Relationship Id="rId13" Type="http://schemas.openxmlformats.org/officeDocument/2006/relationships/theme" Target="../theme/theme13.xml"/><Relationship Id="rId12" Type="http://schemas.openxmlformats.org/officeDocument/2006/relationships/slideLayout" Target="../slideLayouts/slideLayout145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140.xml"/><Relationship Id="rId8" Type="http://schemas.openxmlformats.org/officeDocument/2006/relationships/slideLayout" Target="../slideLayouts/slideLayout141.xml"/></Relationships>
</file>

<file path=ppt/slideMasters/_rels/slideMaster1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54.xml"/><Relationship Id="rId13" Type="http://schemas.openxmlformats.org/officeDocument/2006/relationships/theme" Target="../theme/theme19.xml"/><Relationship Id="rId12" Type="http://schemas.openxmlformats.org/officeDocument/2006/relationships/slideLayout" Target="../slideLayouts/slideLayout156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2.xml"/></Relationships>
</file>

<file path=ppt/slideMasters/_rels/slideMaster1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5.xml"/><Relationship Id="rId13" Type="http://schemas.openxmlformats.org/officeDocument/2006/relationships/theme" Target="../theme/theme15.xml"/><Relationship Id="rId12" Type="http://schemas.openxmlformats.org/officeDocument/2006/relationships/slideLayout" Target="../slideLayouts/slideLayout167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/Relationships>
</file>

<file path=ppt/slideMasters/_rels/slideMaster1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76.xml"/><Relationship Id="rId13" Type="http://schemas.openxmlformats.org/officeDocument/2006/relationships/theme" Target="../theme/theme8.xml"/><Relationship Id="rId12" Type="http://schemas.openxmlformats.org/officeDocument/2006/relationships/slideLayout" Target="../slideLayouts/slideLayout178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68.xml"/><Relationship Id="rId3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73.xml"/><Relationship Id="rId8" Type="http://schemas.openxmlformats.org/officeDocument/2006/relationships/slideLayout" Target="../slideLayouts/slideLayout174.xml"/></Relationships>
</file>

<file path=ppt/slideMasters/_rels/slideMaster1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87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89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81.xml"/><Relationship Id="rId9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4.xml"/><Relationship Id="rId8" Type="http://schemas.openxmlformats.org/officeDocument/2006/relationships/slideLayout" Target="../slideLayouts/slideLayout185.xml"/></Relationships>
</file>

<file path=ppt/slideMasters/_rels/slideMaster18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198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00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92.xml"/><Relationship Id="rId9" Type="http://schemas.openxmlformats.org/officeDocument/2006/relationships/slideLayout" Target="../slideLayouts/slideLayout197.xml"/><Relationship Id="rId5" Type="http://schemas.openxmlformats.org/officeDocument/2006/relationships/slideLayout" Target="../slideLayouts/slideLayout193.xml"/><Relationship Id="rId6" Type="http://schemas.openxmlformats.org/officeDocument/2006/relationships/slideLayout" Target="../slideLayouts/slideLayout194.xml"/><Relationship Id="rId7" Type="http://schemas.openxmlformats.org/officeDocument/2006/relationships/slideLayout" Target="../slideLayouts/slideLayout195.xml"/><Relationship Id="rId8" Type="http://schemas.openxmlformats.org/officeDocument/2006/relationships/slideLayout" Target="../slideLayouts/slideLayout196.xml"/></Relationships>
</file>

<file path=ppt/slideMasters/_rels/slideMaster19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0.xml"/><Relationship Id="rId10" Type="http://schemas.openxmlformats.org/officeDocument/2006/relationships/slideLayout" Target="../slideLayouts/slideLayout209.xml"/><Relationship Id="rId13" Type="http://schemas.openxmlformats.org/officeDocument/2006/relationships/theme" Target="../theme/theme22.xml"/><Relationship Id="rId12" Type="http://schemas.openxmlformats.org/officeDocument/2006/relationships/slideLayout" Target="../slideLayouts/slideLayout2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203.xml"/><Relationship Id="rId9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4.xml"/><Relationship Id="rId6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206.xml"/><Relationship Id="rId8" Type="http://schemas.openxmlformats.org/officeDocument/2006/relationships/slideLayout" Target="../slideLayouts/slideLayout207.xml"/></Relationships>
</file>

<file path=ppt/slideMasters/_rels/slideMaster20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1.xml"/><Relationship Id="rId10" Type="http://schemas.openxmlformats.org/officeDocument/2006/relationships/slideLayout" Target="../slideLayouts/slideLayout2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12.xml"/><Relationship Id="rId3" Type="http://schemas.openxmlformats.org/officeDocument/2006/relationships/slideLayout" Target="../slideLayouts/slideLayout213.xml"/><Relationship Id="rId4" Type="http://schemas.openxmlformats.org/officeDocument/2006/relationships/slideLayout" Target="../slideLayouts/slideLayout214.xml"/><Relationship Id="rId9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15.xml"/><Relationship Id="rId6" Type="http://schemas.openxmlformats.org/officeDocument/2006/relationships/slideLayout" Target="../slideLayouts/slideLayout216.xml"/><Relationship Id="rId7" Type="http://schemas.openxmlformats.org/officeDocument/2006/relationships/slideLayout" Target="../slideLayouts/slideLayout217.xml"/><Relationship Id="rId8" Type="http://schemas.openxmlformats.org/officeDocument/2006/relationships/slideLayout" Target="../slideLayouts/slideLayout218.xml"/></Relationships>
</file>

<file path=ppt/slideMasters/_rels/slideMaster2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2.xml"/><Relationship Id="rId10" Type="http://schemas.openxmlformats.org/officeDocument/2006/relationships/slideLayout" Target="../slideLayouts/slideLayout231.xml"/><Relationship Id="rId13" Type="http://schemas.openxmlformats.org/officeDocument/2006/relationships/theme" Target="../theme/theme14.xml"/><Relationship Id="rId12" Type="http://schemas.openxmlformats.org/officeDocument/2006/relationships/slideLayout" Target="../slideLayouts/slideLayout23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9" Type="http://schemas.openxmlformats.org/officeDocument/2006/relationships/slideLayout" Target="../slideLayouts/slideLayout230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457200" y="1600200"/>
            <a:ext cx="8229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/>
          <p:nvPr>
            <p:ph type="title"/>
          </p:nvPr>
        </p:nvSpPr>
        <p:spPr>
          <a:xfrm>
            <a:off x="457200" y="115887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03" name="Google Shape;203;p38"/>
          <p:cNvSpPr txBox="1"/>
          <p:nvPr>
            <p:ph idx="1" type="body"/>
          </p:nvPr>
        </p:nvSpPr>
        <p:spPr>
          <a:xfrm>
            <a:off x="457200" y="1600200"/>
            <a:ext cx="82296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•"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–"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5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5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5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8" name="Google Shape;248;p5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6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1" name="Google Shape;321;p6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2" name="Google Shape;322;p6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6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5" name="Google Shape;395;p7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6" name="Google Shape;396;p7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7" name="Google Shape;397;p7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8" name="Google Shape;398;p7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0" name="Google Shape;470;p8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1" name="Google Shape;471;p8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2" name="Google Shape;472;p8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3" name="Google Shape;473;p8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5" name="Google Shape;545;p9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6" name="Google Shape;546;p9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7" name="Google Shape;547;p9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8" name="Google Shape;548;p9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0" name="Google Shape;620;p11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1" name="Google Shape;621;p1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2" name="Google Shape;622;p1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3" name="Google Shape;623;p1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2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5" name="Google Shape;695;p12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6" name="Google Shape;696;p1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7" name="Google Shape;697;p1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8" name="Google Shape;698;p1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3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0" name="Google Shape;770;p13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1" name="Google Shape;771;p1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2" name="Google Shape;772;p1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3" name="Google Shape;773;p1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4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5" name="Google Shape;845;p14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6" name="Google Shape;846;p14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7" name="Google Shape;847;p14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8" name="Google Shape;848;p14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5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0" name="Google Shape;920;p15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1" name="Google Shape;921;p15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2" name="Google Shape;922;p15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3" name="Google Shape;923;p15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7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5" name="Google Shape;995;p17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6" name="Google Shape;996;p17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7" name="Google Shape;997;p17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8" name="Google Shape;998;p17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8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0" name="Google Shape;1070;p18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1" name="Google Shape;1071;p18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2" name="Google Shape;1072;p18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3" name="Google Shape;1073;p18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9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5" name="Google Shape;1145;p19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6" name="Google Shape;1146;p19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7" name="Google Shape;1147;p19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8" name="Google Shape;1148;p19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20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0" name="Google Shape;1220;p20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1" name="Google Shape;1221;p20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2" name="Google Shape;1222;p20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3" name="Google Shape;1223;p20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5" name="Google Shape;1295;p21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6" name="Google Shape;1296;p2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7" name="Google Shape;1297;p2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8" name="Google Shape;1298;p2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3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0" name="Google Shape;1370;p23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1" name="Google Shape;1371;p2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2" name="Google Shape;1372;p2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3" name="Google Shape;1373;p2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24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5" name="Google Shape;1445;p24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6" name="Google Shape;1446;p24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7" name="Google Shape;1447;p24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8" name="Google Shape;1448;p24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47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38.png"/><Relationship Id="rId6" Type="http://schemas.openxmlformats.org/officeDocument/2006/relationships/image" Target="../media/image2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3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4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255"/>
          <p:cNvSpPr txBox="1"/>
          <p:nvPr>
            <p:ph type="title"/>
          </p:nvPr>
        </p:nvSpPr>
        <p:spPr>
          <a:xfrm>
            <a:off x="569912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European Union: 500 million people – 28 countries</a:t>
            </a:r>
            <a:endParaRPr/>
          </a:p>
        </p:txBody>
      </p:sp>
      <p:pic>
        <p:nvPicPr>
          <p:cNvPr id="1524" name="Google Shape;1524;p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37" y="1355725"/>
            <a:ext cx="5750762" cy="5115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p_2_en_légende.jpg" id="1525" name="Google Shape;1525;p2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3837" y="5638800"/>
            <a:ext cx="1882336" cy="506412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255"/>
          <p:cNvSpPr txBox="1"/>
          <p:nvPr>
            <p:ph idx="1" type="body"/>
          </p:nvPr>
        </p:nvSpPr>
        <p:spPr>
          <a:xfrm>
            <a:off x="6483350" y="5189537"/>
            <a:ext cx="24860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Member States of the European Union</a:t>
            </a:r>
            <a:endParaRPr/>
          </a:p>
          <a:p>
            <a:pPr indent="-1524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27" name="Google Shape;1527;p255"/>
          <p:cNvSpPr txBox="1"/>
          <p:nvPr>
            <p:ph idx="4294967295" type="body"/>
          </p:nvPr>
        </p:nvSpPr>
        <p:spPr>
          <a:xfrm>
            <a:off x="6483350" y="6145212"/>
            <a:ext cx="2170112" cy="544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Candidate countries and potential candidates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256"/>
          <p:cNvSpPr txBox="1"/>
          <p:nvPr>
            <p:ph type="title"/>
          </p:nvPr>
        </p:nvSpPr>
        <p:spPr>
          <a:xfrm>
            <a:off x="250825" y="44450"/>
            <a:ext cx="76342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 symbols</a:t>
            </a:r>
            <a:endParaRPr/>
          </a:p>
        </p:txBody>
      </p:sp>
      <p:pic>
        <p:nvPicPr>
          <p:cNvPr id="1533" name="Google Shape;1533;p2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50" y="1316037"/>
            <a:ext cx="8210316" cy="5420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256"/>
          <p:cNvSpPr txBox="1"/>
          <p:nvPr/>
        </p:nvSpPr>
        <p:spPr>
          <a:xfrm>
            <a:off x="4630737" y="6310312"/>
            <a:ext cx="1624012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Verdana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 European flag</a:t>
            </a:r>
            <a:endParaRPr/>
          </a:p>
        </p:txBody>
      </p:sp>
      <p:sp>
        <p:nvSpPr>
          <p:cNvPr id="1535" name="Google Shape;1535;p256"/>
          <p:cNvSpPr txBox="1"/>
          <p:nvPr/>
        </p:nvSpPr>
        <p:spPr>
          <a:xfrm>
            <a:off x="6967537" y="3730625"/>
            <a:ext cx="1925637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Verdana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 European anthem</a:t>
            </a:r>
            <a:endParaRPr/>
          </a:p>
        </p:txBody>
      </p:sp>
      <p:sp>
        <p:nvSpPr>
          <p:cNvPr id="1536" name="Google Shape;1536;p256"/>
          <p:cNvSpPr txBox="1"/>
          <p:nvPr/>
        </p:nvSpPr>
        <p:spPr>
          <a:xfrm>
            <a:off x="2619375" y="6323012"/>
            <a:ext cx="99695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Verdana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 euro</a:t>
            </a:r>
            <a:endParaRPr/>
          </a:p>
        </p:txBody>
      </p:sp>
      <p:sp>
        <p:nvSpPr>
          <p:cNvPr id="1537" name="Google Shape;1537;p256"/>
          <p:cNvSpPr txBox="1"/>
          <p:nvPr/>
        </p:nvSpPr>
        <p:spPr>
          <a:xfrm>
            <a:off x="7232650" y="6308725"/>
            <a:ext cx="16605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Verdana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Europe Day, 9 May</a:t>
            </a:r>
            <a:endParaRPr/>
          </a:p>
        </p:txBody>
      </p:sp>
      <p:sp>
        <p:nvSpPr>
          <p:cNvPr id="1538" name="Google Shape;1538;p256"/>
          <p:cNvSpPr txBox="1"/>
          <p:nvPr/>
        </p:nvSpPr>
        <p:spPr>
          <a:xfrm>
            <a:off x="1069975" y="3573462"/>
            <a:ext cx="254635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Verdana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 motto: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Verdana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United in diversity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257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Enlargement: from six to 28 countries</a:t>
            </a:r>
            <a:endParaRPr/>
          </a:p>
        </p:txBody>
      </p:sp>
      <p:pic>
        <p:nvPicPr>
          <p:cNvPr id="1544" name="Google Shape;1544;p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7512" y="1025525"/>
            <a:ext cx="5757629" cy="5402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258"/>
          <p:cNvSpPr txBox="1"/>
          <p:nvPr>
            <p:ph type="title"/>
          </p:nvPr>
        </p:nvSpPr>
        <p:spPr>
          <a:xfrm>
            <a:off x="179387" y="44450"/>
            <a:ext cx="7705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big enlargement: uniting east and west</a:t>
            </a:r>
            <a:endParaRPr/>
          </a:p>
        </p:txBody>
      </p:sp>
      <p:sp>
        <p:nvSpPr>
          <p:cNvPr id="1550" name="Google Shape;1550;p258"/>
          <p:cNvSpPr txBox="1"/>
          <p:nvPr/>
        </p:nvSpPr>
        <p:spPr>
          <a:xfrm>
            <a:off x="2051050" y="1743075"/>
            <a:ext cx="352901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Fall of Berlin Wall – end of Communism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 economic help begins: Phare programme</a:t>
            </a:r>
            <a:endParaRPr/>
          </a:p>
        </p:txBody>
      </p:sp>
      <p:sp>
        <p:nvSpPr>
          <p:cNvPr id="1551" name="Google Shape;1551;p258"/>
          <p:cNvSpPr txBox="1"/>
          <p:nvPr/>
        </p:nvSpPr>
        <p:spPr>
          <a:xfrm>
            <a:off x="2051050" y="2533650"/>
            <a:ext cx="3529012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Criteria set for a country to join the EU: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• democracy and rule of law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• functioning market economy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• ability to implement EU laws</a:t>
            </a:r>
            <a:endParaRPr/>
          </a:p>
        </p:txBody>
      </p:sp>
      <p:sp>
        <p:nvSpPr>
          <p:cNvPr id="1552" name="Google Shape;1552;p258"/>
          <p:cNvSpPr txBox="1"/>
          <p:nvPr/>
        </p:nvSpPr>
        <p:spPr>
          <a:xfrm>
            <a:off x="2051050" y="3440112"/>
            <a:ext cx="35290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Formal negotiations on enlargement begin</a:t>
            </a:r>
            <a:endParaRPr/>
          </a:p>
        </p:txBody>
      </p:sp>
      <p:sp>
        <p:nvSpPr>
          <p:cNvPr id="1553" name="Google Shape;1553;p258"/>
          <p:cNvSpPr txBox="1"/>
          <p:nvPr/>
        </p:nvSpPr>
        <p:spPr>
          <a:xfrm>
            <a:off x="2051050" y="3798887"/>
            <a:ext cx="34575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Copenhagen summit agrees to a big enlargement of 10 new countries</a:t>
            </a:r>
            <a:endParaRPr/>
          </a:p>
        </p:txBody>
      </p:sp>
      <p:sp>
        <p:nvSpPr>
          <p:cNvPr id="1554" name="Google Shape;1554;p258"/>
          <p:cNvSpPr txBox="1"/>
          <p:nvPr/>
        </p:nvSpPr>
        <p:spPr>
          <a:xfrm>
            <a:off x="2051050" y="4311650"/>
            <a:ext cx="3313112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Ten new EU members: Cyprus, Czech Republic, Estonia, Hungary, Latvia, Lithuania, Malta, Poland, Slovakia, Slovenia</a:t>
            </a:r>
            <a:endParaRPr/>
          </a:p>
        </p:txBody>
      </p:sp>
      <p:sp>
        <p:nvSpPr>
          <p:cNvPr id="1555" name="Google Shape;1555;p258"/>
          <p:cNvSpPr txBox="1"/>
          <p:nvPr/>
        </p:nvSpPr>
        <p:spPr>
          <a:xfrm>
            <a:off x="1023937" y="1731962"/>
            <a:ext cx="1027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1989</a:t>
            </a:r>
            <a:endParaRPr/>
          </a:p>
        </p:txBody>
      </p:sp>
      <p:sp>
        <p:nvSpPr>
          <p:cNvPr id="1556" name="Google Shape;1556;p258"/>
          <p:cNvSpPr txBox="1"/>
          <p:nvPr/>
        </p:nvSpPr>
        <p:spPr>
          <a:xfrm>
            <a:off x="1023937" y="2522537"/>
            <a:ext cx="1027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1992</a:t>
            </a:r>
            <a:endParaRPr/>
          </a:p>
        </p:txBody>
      </p:sp>
      <p:sp>
        <p:nvSpPr>
          <p:cNvPr id="1557" name="Google Shape;1557;p258"/>
          <p:cNvSpPr txBox="1"/>
          <p:nvPr/>
        </p:nvSpPr>
        <p:spPr>
          <a:xfrm>
            <a:off x="1023937" y="3373437"/>
            <a:ext cx="1027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1998</a:t>
            </a:r>
            <a:endParaRPr/>
          </a:p>
        </p:txBody>
      </p:sp>
      <p:sp>
        <p:nvSpPr>
          <p:cNvPr id="1558" name="Google Shape;1558;p258"/>
          <p:cNvSpPr txBox="1"/>
          <p:nvPr/>
        </p:nvSpPr>
        <p:spPr>
          <a:xfrm>
            <a:off x="1023937" y="3789362"/>
            <a:ext cx="10271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2002</a:t>
            </a:r>
            <a:endParaRPr/>
          </a:p>
        </p:txBody>
      </p:sp>
      <p:sp>
        <p:nvSpPr>
          <p:cNvPr id="1559" name="Google Shape;1559;p258"/>
          <p:cNvSpPr txBox="1"/>
          <p:nvPr/>
        </p:nvSpPr>
        <p:spPr>
          <a:xfrm>
            <a:off x="1023937" y="4300537"/>
            <a:ext cx="10509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2004</a:t>
            </a:r>
            <a:endParaRPr/>
          </a:p>
        </p:txBody>
      </p:sp>
      <p:sp>
        <p:nvSpPr>
          <p:cNvPr id="1560" name="Google Shape;1560;p258"/>
          <p:cNvSpPr txBox="1"/>
          <p:nvPr/>
        </p:nvSpPr>
        <p:spPr>
          <a:xfrm>
            <a:off x="1023937" y="5157787"/>
            <a:ext cx="1027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2007</a:t>
            </a:r>
            <a:endParaRPr/>
          </a:p>
        </p:txBody>
      </p:sp>
      <p:sp>
        <p:nvSpPr>
          <p:cNvPr id="1561" name="Google Shape;1561;p258"/>
          <p:cNvSpPr txBox="1"/>
          <p:nvPr/>
        </p:nvSpPr>
        <p:spPr>
          <a:xfrm>
            <a:off x="2051050" y="5229225"/>
            <a:ext cx="3529012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Bulgaria and Romania join the EU</a:t>
            </a:r>
            <a:endParaRPr/>
          </a:p>
        </p:txBody>
      </p:sp>
      <p:sp>
        <p:nvSpPr>
          <p:cNvPr id="1562" name="Google Shape;1562;p258"/>
          <p:cNvSpPr txBox="1"/>
          <p:nvPr/>
        </p:nvSpPr>
        <p:spPr>
          <a:xfrm flipH="1">
            <a:off x="1035050" y="5521325"/>
            <a:ext cx="1039812" cy="65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2013</a:t>
            </a:r>
            <a:endParaRPr/>
          </a:p>
        </p:txBody>
      </p:sp>
      <p:sp>
        <p:nvSpPr>
          <p:cNvPr id="1563" name="Google Shape;1563;p258"/>
          <p:cNvSpPr txBox="1"/>
          <p:nvPr/>
        </p:nvSpPr>
        <p:spPr>
          <a:xfrm>
            <a:off x="2074862" y="5570537"/>
            <a:ext cx="34337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Croatia joins on 1 July</a:t>
            </a:r>
            <a:endParaRPr/>
          </a:p>
        </p:txBody>
      </p:sp>
      <p:pic>
        <p:nvPicPr>
          <p:cNvPr id="1564" name="Google Shape;1564;p2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525" y="1290637"/>
            <a:ext cx="2367129" cy="5006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259"/>
          <p:cNvSpPr txBox="1"/>
          <p:nvPr>
            <p:ph type="title"/>
          </p:nvPr>
        </p:nvSpPr>
        <p:spPr>
          <a:xfrm>
            <a:off x="179387" y="0"/>
            <a:ext cx="7488237" cy="69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Candidate countries and potential candidates</a:t>
            </a:r>
            <a:endParaRPr/>
          </a:p>
        </p:txBody>
      </p:sp>
      <p:graphicFrame>
        <p:nvGraphicFramePr>
          <p:cNvPr id="1570" name="Google Shape;1570;p259"/>
          <p:cNvGraphicFramePr/>
          <p:nvPr/>
        </p:nvGraphicFramePr>
        <p:xfrm>
          <a:off x="971550" y="1557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{AF232D88-4070-4367-AB5F-23133892A008}</a:tableStyleId>
              </a:tblPr>
              <a:tblGrid>
                <a:gridCol w="1925625"/>
                <a:gridCol w="1927225"/>
                <a:gridCol w="1925625"/>
                <a:gridCol w="1925625"/>
              </a:tblGrid>
              <a:tr h="7207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Country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Area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(x 1000 km²)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Population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(millions)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Wealth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(gross domestic product per person)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Bosnia and Herzegovina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51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3.8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7 600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369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Montenegro</a:t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14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0.6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10 900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Iceland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100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0.3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30 000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6699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Kosovo under UN Security</a:t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Resolution 1244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1.8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former Yugoslav Republic of Macedonia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2.1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9 100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369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Albania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28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2.9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7 500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Serbia</a:t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77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7.2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9 100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Turkey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783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76.7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13 800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28 EU countries together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4 272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507.4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25 700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260"/>
          <p:cNvSpPr txBox="1"/>
          <p:nvPr>
            <p:ph type="title"/>
          </p:nvPr>
        </p:nvSpPr>
        <p:spPr>
          <a:xfrm>
            <a:off x="179387" y="44450"/>
            <a:ext cx="78787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treaties – basis for democratic cooperation built on law</a:t>
            </a:r>
            <a:endParaRPr/>
          </a:p>
        </p:txBody>
      </p:sp>
      <p:sp>
        <p:nvSpPr>
          <p:cNvPr id="1577" name="Google Shape;1577;p260"/>
          <p:cNvSpPr txBox="1"/>
          <p:nvPr/>
        </p:nvSpPr>
        <p:spPr>
          <a:xfrm>
            <a:off x="5097462" y="1912937"/>
            <a:ext cx="35290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 European Coal and Steel Community</a:t>
            </a:r>
            <a:endParaRPr/>
          </a:p>
        </p:txBody>
      </p:sp>
      <p:sp>
        <p:nvSpPr>
          <p:cNvPr id="1578" name="Google Shape;1578;p260"/>
          <p:cNvSpPr txBox="1"/>
          <p:nvPr/>
        </p:nvSpPr>
        <p:spPr>
          <a:xfrm>
            <a:off x="5097462" y="2314575"/>
            <a:ext cx="3744912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 treaties of Rome: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• The European Economic Community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• The European Atomic Energy Community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(EURATOM)</a:t>
            </a:r>
            <a:endParaRPr/>
          </a:p>
        </p:txBody>
      </p:sp>
      <p:sp>
        <p:nvSpPr>
          <p:cNvPr id="1579" name="Google Shape;1579;p260"/>
          <p:cNvSpPr txBox="1"/>
          <p:nvPr/>
        </p:nvSpPr>
        <p:spPr>
          <a:xfrm>
            <a:off x="5097462" y="3209925"/>
            <a:ext cx="352901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 European Single Act: the Single Market</a:t>
            </a:r>
            <a:endParaRPr/>
          </a:p>
        </p:txBody>
      </p:sp>
      <p:sp>
        <p:nvSpPr>
          <p:cNvPr id="1580" name="Google Shape;1580;p260"/>
          <p:cNvSpPr txBox="1"/>
          <p:nvPr/>
        </p:nvSpPr>
        <p:spPr>
          <a:xfrm>
            <a:off x="5097462" y="3752850"/>
            <a:ext cx="345598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Treaty on European Union - Maastricht</a:t>
            </a:r>
            <a:endParaRPr/>
          </a:p>
        </p:txBody>
      </p:sp>
      <p:sp>
        <p:nvSpPr>
          <p:cNvPr id="1581" name="Google Shape;1581;p260"/>
          <p:cNvSpPr txBox="1"/>
          <p:nvPr/>
        </p:nvSpPr>
        <p:spPr>
          <a:xfrm>
            <a:off x="5097462" y="4119562"/>
            <a:ext cx="3313112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Treaty of Amsterdam</a:t>
            </a:r>
            <a:endParaRPr/>
          </a:p>
        </p:txBody>
      </p:sp>
      <p:sp>
        <p:nvSpPr>
          <p:cNvPr id="1582" name="Google Shape;1582;p260"/>
          <p:cNvSpPr txBox="1"/>
          <p:nvPr/>
        </p:nvSpPr>
        <p:spPr>
          <a:xfrm>
            <a:off x="4140200" y="1901825"/>
            <a:ext cx="10287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1952</a:t>
            </a:r>
            <a:endParaRPr/>
          </a:p>
        </p:txBody>
      </p:sp>
      <p:sp>
        <p:nvSpPr>
          <p:cNvPr id="1583" name="Google Shape;1583;p260"/>
          <p:cNvSpPr txBox="1"/>
          <p:nvPr/>
        </p:nvSpPr>
        <p:spPr>
          <a:xfrm>
            <a:off x="4140200" y="2303462"/>
            <a:ext cx="10287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1958</a:t>
            </a:r>
            <a:endParaRPr/>
          </a:p>
        </p:txBody>
      </p:sp>
      <p:sp>
        <p:nvSpPr>
          <p:cNvPr id="1584" name="Google Shape;1584;p260"/>
          <p:cNvSpPr txBox="1"/>
          <p:nvPr/>
        </p:nvSpPr>
        <p:spPr>
          <a:xfrm>
            <a:off x="4140200" y="3187700"/>
            <a:ext cx="10287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1987</a:t>
            </a:r>
            <a:endParaRPr/>
          </a:p>
        </p:txBody>
      </p:sp>
      <p:sp>
        <p:nvSpPr>
          <p:cNvPr id="1585" name="Google Shape;1585;p260"/>
          <p:cNvSpPr txBox="1"/>
          <p:nvPr/>
        </p:nvSpPr>
        <p:spPr>
          <a:xfrm>
            <a:off x="4140200" y="3671887"/>
            <a:ext cx="10287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1993</a:t>
            </a:r>
            <a:endParaRPr/>
          </a:p>
        </p:txBody>
      </p:sp>
      <p:sp>
        <p:nvSpPr>
          <p:cNvPr id="1586" name="Google Shape;1586;p260"/>
          <p:cNvSpPr txBox="1"/>
          <p:nvPr/>
        </p:nvSpPr>
        <p:spPr>
          <a:xfrm>
            <a:off x="4140200" y="4103687"/>
            <a:ext cx="10525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1999</a:t>
            </a:r>
            <a:endParaRPr/>
          </a:p>
        </p:txBody>
      </p:sp>
      <p:sp>
        <p:nvSpPr>
          <p:cNvPr id="1587" name="Google Shape;1587;p260"/>
          <p:cNvSpPr txBox="1"/>
          <p:nvPr/>
        </p:nvSpPr>
        <p:spPr>
          <a:xfrm>
            <a:off x="4140200" y="4535487"/>
            <a:ext cx="1028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2003</a:t>
            </a:r>
            <a:endParaRPr/>
          </a:p>
        </p:txBody>
      </p:sp>
      <p:sp>
        <p:nvSpPr>
          <p:cNvPr id="1588" name="Google Shape;1588;p260"/>
          <p:cNvSpPr txBox="1"/>
          <p:nvPr/>
        </p:nvSpPr>
        <p:spPr>
          <a:xfrm>
            <a:off x="5097462" y="4600575"/>
            <a:ext cx="3529012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Treaty of Nice</a:t>
            </a:r>
            <a:endParaRPr/>
          </a:p>
        </p:txBody>
      </p:sp>
      <p:sp>
        <p:nvSpPr>
          <p:cNvPr id="1589" name="Google Shape;1589;p260"/>
          <p:cNvSpPr txBox="1"/>
          <p:nvPr/>
        </p:nvSpPr>
        <p:spPr>
          <a:xfrm flipH="1">
            <a:off x="4151312" y="4967287"/>
            <a:ext cx="1041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2009</a:t>
            </a:r>
            <a:endParaRPr/>
          </a:p>
        </p:txBody>
      </p:sp>
      <p:sp>
        <p:nvSpPr>
          <p:cNvPr id="1590" name="Google Shape;1590;p260"/>
          <p:cNvSpPr txBox="1"/>
          <p:nvPr/>
        </p:nvSpPr>
        <p:spPr>
          <a:xfrm>
            <a:off x="5097462" y="5040312"/>
            <a:ext cx="35290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Treaty of Lisbon</a:t>
            </a:r>
            <a:endParaRPr/>
          </a:p>
        </p:txBody>
      </p:sp>
      <p:pic>
        <p:nvPicPr>
          <p:cNvPr id="1591" name="Google Shape;1591;p2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875" y="1708150"/>
            <a:ext cx="3249848" cy="4467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261"/>
          <p:cNvSpPr txBox="1"/>
          <p:nvPr>
            <p:ph type="title"/>
          </p:nvPr>
        </p:nvSpPr>
        <p:spPr>
          <a:xfrm>
            <a:off x="250825" y="44450"/>
            <a:ext cx="6913562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 Charter of Fundamental Rights</a:t>
            </a:r>
            <a:endParaRPr/>
          </a:p>
        </p:txBody>
      </p:sp>
      <p:sp>
        <p:nvSpPr>
          <p:cNvPr id="1597" name="Google Shape;1597;p261"/>
          <p:cNvSpPr txBox="1"/>
          <p:nvPr/>
        </p:nvSpPr>
        <p:spPr>
          <a:xfrm>
            <a:off x="1157287" y="1069975"/>
            <a:ext cx="4449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Binding for all the EU's activities</a:t>
            </a:r>
            <a:endParaRPr/>
          </a:p>
        </p:txBody>
      </p:sp>
      <p:sp>
        <p:nvSpPr>
          <p:cNvPr id="1598" name="Google Shape;1598;p261"/>
          <p:cNvSpPr txBox="1"/>
          <p:nvPr/>
        </p:nvSpPr>
        <p:spPr>
          <a:xfrm>
            <a:off x="1157287" y="1446212"/>
            <a:ext cx="3127375" cy="61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54 articles under 6 titles: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359AC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99" name="Google Shape;1599;p2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5212" y="2066925"/>
            <a:ext cx="6917353" cy="4566346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261"/>
          <p:cNvSpPr txBox="1"/>
          <p:nvPr/>
        </p:nvSpPr>
        <p:spPr>
          <a:xfrm>
            <a:off x="4491037" y="2195512"/>
            <a:ext cx="10350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Freedoms</a:t>
            </a:r>
            <a:endParaRPr/>
          </a:p>
        </p:txBody>
      </p:sp>
      <p:sp>
        <p:nvSpPr>
          <p:cNvPr id="1601" name="Google Shape;1601;p261"/>
          <p:cNvSpPr txBox="1"/>
          <p:nvPr/>
        </p:nvSpPr>
        <p:spPr>
          <a:xfrm>
            <a:off x="6848475" y="2195512"/>
            <a:ext cx="885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Equality</a:t>
            </a:r>
            <a:endParaRPr/>
          </a:p>
        </p:txBody>
      </p:sp>
      <p:sp>
        <p:nvSpPr>
          <p:cNvPr id="1602" name="Google Shape;1602;p261"/>
          <p:cNvSpPr txBox="1"/>
          <p:nvPr/>
        </p:nvSpPr>
        <p:spPr>
          <a:xfrm>
            <a:off x="2336800" y="4400550"/>
            <a:ext cx="10144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Solidarity</a:t>
            </a:r>
            <a:endParaRPr/>
          </a:p>
        </p:txBody>
      </p:sp>
      <p:sp>
        <p:nvSpPr>
          <p:cNvPr id="1603" name="Google Shape;1603;p261"/>
          <p:cNvSpPr txBox="1"/>
          <p:nvPr/>
        </p:nvSpPr>
        <p:spPr>
          <a:xfrm>
            <a:off x="4038600" y="4400550"/>
            <a:ext cx="14779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Citizens’ rights</a:t>
            </a:r>
            <a:endParaRPr/>
          </a:p>
        </p:txBody>
      </p:sp>
      <p:sp>
        <p:nvSpPr>
          <p:cNvPr id="1604" name="Google Shape;1604;p261"/>
          <p:cNvSpPr txBox="1"/>
          <p:nvPr/>
        </p:nvSpPr>
        <p:spPr>
          <a:xfrm>
            <a:off x="6948487" y="4400550"/>
            <a:ext cx="7858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Justice</a:t>
            </a:r>
            <a:endParaRPr/>
          </a:p>
        </p:txBody>
      </p:sp>
      <p:sp>
        <p:nvSpPr>
          <p:cNvPr id="1605" name="Google Shape;1605;p261"/>
          <p:cNvSpPr txBox="1"/>
          <p:nvPr/>
        </p:nvSpPr>
        <p:spPr>
          <a:xfrm>
            <a:off x="2536825" y="2195512"/>
            <a:ext cx="8048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Dignity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262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EU population compared to the rest of the world</a:t>
            </a:r>
            <a:endParaRPr/>
          </a:p>
        </p:txBody>
      </p:sp>
      <p:sp>
        <p:nvSpPr>
          <p:cNvPr id="1612" name="Google Shape;1612;p262"/>
          <p:cNvSpPr txBox="1"/>
          <p:nvPr/>
        </p:nvSpPr>
        <p:spPr>
          <a:xfrm>
            <a:off x="2921000" y="1289050"/>
            <a:ext cx="4021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Population in millions (2014)</a:t>
            </a:r>
            <a:endParaRPr/>
          </a:p>
        </p:txBody>
      </p:sp>
      <p:pic>
        <p:nvPicPr>
          <p:cNvPr id="1613" name="Google Shape;1613;p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512" y="1652587"/>
            <a:ext cx="5926137" cy="43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4" name="Google Shape;1614;p2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0512" y="1652587"/>
            <a:ext cx="5904210" cy="4327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263"/>
          <p:cNvSpPr txBox="1"/>
          <p:nvPr>
            <p:ph type="title"/>
          </p:nvPr>
        </p:nvSpPr>
        <p:spPr>
          <a:xfrm>
            <a:off x="630237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rich is the EU compared to the rest of the world?</a:t>
            </a:r>
            <a:endParaRPr/>
          </a:p>
        </p:txBody>
      </p:sp>
      <p:sp>
        <p:nvSpPr>
          <p:cNvPr id="1620" name="Google Shape;1620;p263"/>
          <p:cNvSpPr txBox="1"/>
          <p:nvPr/>
        </p:nvSpPr>
        <p:spPr>
          <a:xfrm>
            <a:off x="830262" y="1524000"/>
            <a:ext cx="38179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Size of economy: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GDP in trillions of euro (2012)</a:t>
            </a:r>
            <a:endParaRPr/>
          </a:p>
        </p:txBody>
      </p:sp>
      <p:sp>
        <p:nvSpPr>
          <p:cNvPr id="1621" name="Google Shape;1621;p263"/>
          <p:cNvSpPr txBox="1"/>
          <p:nvPr/>
        </p:nvSpPr>
        <p:spPr>
          <a:xfrm>
            <a:off x="5026025" y="1568450"/>
            <a:ext cx="36322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Wealth per person: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GDP per person (2012)</a:t>
            </a:r>
            <a:endParaRPr/>
          </a:p>
        </p:txBody>
      </p:sp>
      <p:pic>
        <p:nvPicPr>
          <p:cNvPr id="1622" name="Google Shape;1622;p2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719387"/>
            <a:ext cx="3011487" cy="34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2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2719387"/>
            <a:ext cx="3000144" cy="341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2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2850" y="2743200"/>
            <a:ext cx="3017837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2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2850" y="2743200"/>
            <a:ext cx="3012556" cy="3405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264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many people live in the EU? </a:t>
            </a:r>
            <a:endParaRPr/>
          </a:p>
        </p:txBody>
      </p:sp>
      <p:sp>
        <p:nvSpPr>
          <p:cNvPr id="1632" name="Google Shape;1632;p264"/>
          <p:cNvSpPr txBox="1"/>
          <p:nvPr/>
        </p:nvSpPr>
        <p:spPr>
          <a:xfrm>
            <a:off x="2706687" y="1035050"/>
            <a:ext cx="3971925" cy="78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Population in millions (2014)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507 million in total</a:t>
            </a:r>
            <a:endParaRPr/>
          </a:p>
        </p:txBody>
      </p:sp>
      <p:pic>
        <p:nvPicPr>
          <p:cNvPr id="1633" name="Google Shape;1633;p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670050"/>
            <a:ext cx="8113712" cy="46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2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1670050"/>
            <a:ext cx="8099513" cy="4638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265"/>
          <p:cNvSpPr txBox="1"/>
          <p:nvPr>
            <p:ph type="title"/>
          </p:nvPr>
        </p:nvSpPr>
        <p:spPr>
          <a:xfrm>
            <a:off x="485775" y="0"/>
            <a:ext cx="7427912" cy="61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GDP per inhabitant: the spread of wealth</a:t>
            </a:r>
            <a:endParaRPr/>
          </a:p>
        </p:txBody>
      </p:sp>
      <p:sp>
        <p:nvSpPr>
          <p:cNvPr id="1641" name="Google Shape;1641;p265"/>
          <p:cNvSpPr txBox="1"/>
          <p:nvPr/>
        </p:nvSpPr>
        <p:spPr>
          <a:xfrm>
            <a:off x="2357437" y="1428750"/>
            <a:ext cx="47434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GDP per inhabitant (2013)</a:t>
            </a:r>
            <a:endParaRPr/>
          </a:p>
        </p:txBody>
      </p:sp>
      <p:sp>
        <p:nvSpPr>
          <p:cNvPr id="1642" name="Google Shape;1642;p265"/>
          <p:cNvSpPr txBox="1"/>
          <p:nvPr/>
        </p:nvSpPr>
        <p:spPr>
          <a:xfrm>
            <a:off x="2357437" y="1866900"/>
            <a:ext cx="483552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Verdana"/>
              <a:buNone/>
            </a:pPr>
            <a:r>
              <a:rPr b="0" i="0" lang="en-US" sz="13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Index where the average of the 28 EU countries is 100</a:t>
            </a:r>
            <a:endParaRPr/>
          </a:p>
        </p:txBody>
      </p:sp>
      <p:pic>
        <p:nvPicPr>
          <p:cNvPr id="1643" name="Google Shape;1643;p2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450" y="1865312"/>
            <a:ext cx="7534275" cy="468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4" name="Google Shape;1644;p2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0450" y="1865312"/>
            <a:ext cx="7527494" cy="4686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266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five targets for the EU in 2020</a:t>
            </a:r>
            <a:endParaRPr/>
          </a:p>
        </p:txBody>
      </p:sp>
      <p:sp>
        <p:nvSpPr>
          <p:cNvPr id="1651" name="Google Shape;1651;p266"/>
          <p:cNvSpPr txBox="1"/>
          <p:nvPr>
            <p:ph idx="1" type="body"/>
          </p:nvPr>
        </p:nvSpPr>
        <p:spPr>
          <a:xfrm>
            <a:off x="1200150" y="1260475"/>
            <a:ext cx="6243637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Agreed in the Europe 2020 strategy: 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59AC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52" name="Google Shape;1652;p266"/>
          <p:cNvSpPr txBox="1"/>
          <p:nvPr/>
        </p:nvSpPr>
        <p:spPr>
          <a:xfrm>
            <a:off x="1471612" y="1930400"/>
            <a:ext cx="7043737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Employment</a:t>
            </a:r>
            <a:r>
              <a:rPr b="0" i="0" lang="en-US" sz="1400" u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75 % of 20 to 64-year-olds to be employed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Research and innovation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3 % of the EU's GDP to be invested in research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Climate change/energy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Greenhouse gas emissions to be 20 % lower than in 1990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20 % of energy to be from renewable sources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20 % increase in energy efficiency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Education</a:t>
            </a:r>
            <a:endParaRPr b="1" i="0" sz="14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School drop-out rates to be below 10 % </a:t>
            </a:r>
            <a:endParaRPr b="0" i="0" sz="14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40 % of 30 to 34-year-olds to be completing third-level education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Poverty</a:t>
            </a:r>
            <a:r>
              <a:rPr b="0" i="0" lang="en-US" sz="1400" u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20 million fewer people in, or at risk of, poverty and social exclusion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267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does the EU spend its money?</a:t>
            </a:r>
            <a:endParaRPr/>
          </a:p>
        </p:txBody>
      </p:sp>
      <p:sp>
        <p:nvSpPr>
          <p:cNvPr id="1658" name="Google Shape;1658;p267"/>
          <p:cNvSpPr txBox="1"/>
          <p:nvPr>
            <p:ph idx="1" type="body"/>
          </p:nvPr>
        </p:nvSpPr>
        <p:spPr>
          <a:xfrm>
            <a:off x="766762" y="1493837"/>
            <a:ext cx="7886700" cy="89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2015 EU budget:  € 145.3 billion  </a:t>
            </a:r>
            <a:b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= 1.02 % of gross national income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59AC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659" name="Google Shape;1659;p267"/>
          <p:cNvGrpSpPr/>
          <p:nvPr/>
        </p:nvGrpSpPr>
        <p:grpSpPr>
          <a:xfrm>
            <a:off x="1101725" y="2822575"/>
            <a:ext cx="7577137" cy="3223182"/>
            <a:chOff x="0" y="0"/>
            <a:chExt cx="2147483647" cy="2147483647"/>
          </a:xfrm>
        </p:grpSpPr>
        <p:pic>
          <p:nvPicPr>
            <p:cNvPr id="1660" name="Google Shape;1660;p2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5257482" y="433653041"/>
              <a:ext cx="774305837" cy="1713830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1" name="Google Shape;1661;p267"/>
            <p:cNvSpPr txBox="1"/>
            <p:nvPr/>
          </p:nvSpPr>
          <p:spPr>
            <a:xfrm>
              <a:off x="633717995" y="0"/>
              <a:ext cx="677477056" cy="461384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Global Europe: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including development aid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1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6 %</a:t>
              </a:r>
              <a:endParaRPr/>
            </a:p>
          </p:txBody>
        </p:sp>
        <p:sp>
          <p:nvSpPr>
            <p:cNvPr id="1662" name="Google Shape;1662;p267"/>
            <p:cNvSpPr txBox="1"/>
            <p:nvPr/>
          </p:nvSpPr>
          <p:spPr>
            <a:xfrm>
              <a:off x="1152191174" y="498172353"/>
              <a:ext cx="554527043" cy="328095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Other, administration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1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6 %</a:t>
              </a:r>
              <a:endParaRPr/>
            </a:p>
          </p:txBody>
        </p:sp>
        <p:sp>
          <p:nvSpPr>
            <p:cNvPr id="1663" name="Google Shape;1663;p267"/>
            <p:cNvSpPr txBox="1"/>
            <p:nvPr/>
          </p:nvSpPr>
          <p:spPr>
            <a:xfrm>
              <a:off x="1404134359" y="1175094215"/>
              <a:ext cx="743349287" cy="594673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Smart and inclusive growth: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jobs, competitiveness,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regional development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1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46 %</a:t>
              </a:r>
              <a:endParaRPr/>
            </a:p>
          </p:txBody>
        </p:sp>
        <p:sp>
          <p:nvSpPr>
            <p:cNvPr id="1664" name="Google Shape;1664;p267"/>
            <p:cNvSpPr txBox="1"/>
            <p:nvPr/>
          </p:nvSpPr>
          <p:spPr>
            <a:xfrm>
              <a:off x="36487588" y="512980108"/>
              <a:ext cx="806623083" cy="328095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Security and citizenship, justice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1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2 %</a:t>
              </a:r>
              <a:endParaRPr/>
            </a:p>
          </p:txBody>
        </p:sp>
        <p:sp>
          <p:nvSpPr>
            <p:cNvPr id="1665" name="Google Shape;1665;p267"/>
            <p:cNvSpPr txBox="1"/>
            <p:nvPr/>
          </p:nvSpPr>
          <p:spPr>
            <a:xfrm>
              <a:off x="0" y="1175094215"/>
              <a:ext cx="642006051" cy="594673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Sustainable growth –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 natural resources: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0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agriculture, environment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Verdana"/>
                <a:buNone/>
              </a:pPr>
              <a:r>
                <a:rPr b="1" i="0" lang="en-US" sz="13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40 %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268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Research - investing in the knowledge society</a:t>
            </a:r>
            <a:endParaRPr/>
          </a:p>
        </p:txBody>
      </p:sp>
      <p:sp>
        <p:nvSpPr>
          <p:cNvPr id="1671" name="Google Shape;1671;p268"/>
          <p:cNvSpPr txBox="1"/>
          <p:nvPr>
            <p:ph idx="1" type="body"/>
          </p:nvPr>
        </p:nvSpPr>
        <p:spPr>
          <a:xfrm>
            <a:off x="704850" y="1355725"/>
            <a:ext cx="78867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Spending on research and development in 2012 (% of GDP)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59AC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72" name="Google Shape;1672;p2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412" y="1871662"/>
            <a:ext cx="6310312" cy="431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3" name="Google Shape;1673;p2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5412" y="1871662"/>
            <a:ext cx="6259041" cy="4291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269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Solidarity in practice: the EU cohesion policy </a:t>
            </a:r>
            <a:endParaRPr/>
          </a:p>
        </p:txBody>
      </p:sp>
      <p:sp>
        <p:nvSpPr>
          <p:cNvPr id="1680" name="Google Shape;1680;p269"/>
          <p:cNvSpPr txBox="1"/>
          <p:nvPr/>
        </p:nvSpPr>
        <p:spPr>
          <a:xfrm>
            <a:off x="1273175" y="2446337"/>
            <a:ext cx="1871662" cy="108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Regional fund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Social fund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Cohesion fund</a:t>
            </a:r>
            <a:endParaRPr/>
          </a:p>
        </p:txBody>
      </p:sp>
      <p:sp>
        <p:nvSpPr>
          <p:cNvPr id="1681" name="Google Shape;1681;p269"/>
          <p:cNvSpPr txBox="1"/>
          <p:nvPr/>
        </p:nvSpPr>
        <p:spPr>
          <a:xfrm>
            <a:off x="1677987" y="4545012"/>
            <a:ext cx="2640012" cy="147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Less-developed regions: GDP per capita under 75 % of the EU average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Transition regions: GDP per capita between 75 % and 90 % of the EU average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More-developed regions: GDP per capita over 90 % of the EU average</a:t>
            </a:r>
            <a:endParaRPr/>
          </a:p>
        </p:txBody>
      </p:sp>
      <p:sp>
        <p:nvSpPr>
          <p:cNvPr id="1682" name="Google Shape;1682;p269"/>
          <p:cNvSpPr txBox="1"/>
          <p:nvPr/>
        </p:nvSpPr>
        <p:spPr>
          <a:xfrm>
            <a:off x="1273175" y="1344612"/>
            <a:ext cx="7331075" cy="841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600"/>
              <a:buFont typeface="Verdana"/>
              <a:buNone/>
            </a:pPr>
            <a:r>
              <a:rPr b="0" i="0" lang="en-US" sz="16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2014-2020: € 352 billion invested in infrastructure, business, environment and training of workers for the benefit of poorer regions and citizens </a:t>
            </a:r>
            <a:endParaRPr/>
          </a:p>
        </p:txBody>
      </p:sp>
      <p:pic>
        <p:nvPicPr>
          <p:cNvPr id="1683" name="Google Shape;1683;p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625" y="4616450"/>
            <a:ext cx="256704" cy="22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2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150" y="5081587"/>
            <a:ext cx="218847" cy="237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2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8100" y="5664200"/>
            <a:ext cx="218297" cy="208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269"/>
          <p:cNvPicPr preferRelativeResize="0"/>
          <p:nvPr/>
        </p:nvPicPr>
        <p:blipFill rotWithShape="1">
          <a:blip r:embed="rId6">
            <a:alphaModFix/>
          </a:blip>
          <a:srcRect b="0" l="0" r="0" t="-3"/>
          <a:stretch/>
        </p:blipFill>
        <p:spPr>
          <a:xfrm>
            <a:off x="4491037" y="2185987"/>
            <a:ext cx="3600779" cy="37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70"/>
          <p:cNvSpPr txBox="1"/>
          <p:nvPr>
            <p:ph type="title"/>
          </p:nvPr>
        </p:nvSpPr>
        <p:spPr>
          <a:xfrm>
            <a:off x="457200" y="115887"/>
            <a:ext cx="7427912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euro – a single currency for Europeans </a:t>
            </a:r>
            <a:endParaRPr/>
          </a:p>
        </p:txBody>
      </p:sp>
      <p:sp>
        <p:nvSpPr>
          <p:cNvPr id="1692" name="Google Shape;1692;p270"/>
          <p:cNvSpPr txBox="1"/>
          <p:nvPr/>
        </p:nvSpPr>
        <p:spPr>
          <a:xfrm>
            <a:off x="4902200" y="5173662"/>
            <a:ext cx="2568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 countries using the euro</a:t>
            </a:r>
            <a:endParaRPr/>
          </a:p>
        </p:txBody>
      </p:sp>
      <p:sp>
        <p:nvSpPr>
          <p:cNvPr id="1693" name="Google Shape;1693;p270"/>
          <p:cNvSpPr txBox="1"/>
          <p:nvPr/>
        </p:nvSpPr>
        <p:spPr>
          <a:xfrm>
            <a:off x="4902200" y="5413375"/>
            <a:ext cx="256857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 countries not using the euro</a:t>
            </a:r>
            <a:endParaRPr/>
          </a:p>
        </p:txBody>
      </p:sp>
      <p:sp>
        <p:nvSpPr>
          <p:cNvPr id="1694" name="Google Shape;1694;p270"/>
          <p:cNvSpPr txBox="1"/>
          <p:nvPr/>
        </p:nvSpPr>
        <p:spPr>
          <a:xfrm>
            <a:off x="611187" y="1773237"/>
            <a:ext cx="3743325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Why the euro?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No fluctuation risk and foreign exchange cost</a:t>
            </a:r>
            <a:endParaRPr/>
          </a:p>
          <a:p>
            <a:pPr indent="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More choice and stable prices for consumers</a:t>
            </a:r>
            <a:endParaRPr/>
          </a:p>
          <a:p>
            <a:pPr indent="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Closer economic cooperation between EU countries</a:t>
            </a:r>
            <a:endParaRPr/>
          </a:p>
        </p:txBody>
      </p:sp>
      <p:sp>
        <p:nvSpPr>
          <p:cNvPr id="1695" name="Google Shape;1695;p270"/>
          <p:cNvSpPr txBox="1"/>
          <p:nvPr/>
        </p:nvSpPr>
        <p:spPr>
          <a:xfrm>
            <a:off x="611187" y="4065587"/>
            <a:ext cx="3529012" cy="156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Can be used everywhere in the euro area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>
              <a:solidFill>
                <a:srgbClr val="3333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Coins: one side with national symbols, one side common</a:t>
            </a:r>
            <a:endParaRPr/>
          </a:p>
          <a:p>
            <a:pPr indent="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Notes: no national side</a:t>
            </a:r>
            <a:endParaRPr/>
          </a:p>
        </p:txBody>
      </p:sp>
      <p:grpSp>
        <p:nvGrpSpPr>
          <p:cNvPr id="1696" name="Google Shape;1696;p270"/>
          <p:cNvGrpSpPr/>
          <p:nvPr/>
        </p:nvGrpSpPr>
        <p:grpSpPr>
          <a:xfrm>
            <a:off x="4294187" y="1368425"/>
            <a:ext cx="4151466" cy="4270526"/>
            <a:chOff x="0" y="0"/>
            <a:chExt cx="2147483646" cy="2147483647"/>
          </a:xfrm>
        </p:grpSpPr>
        <p:pic>
          <p:nvPicPr>
            <p:cNvPr id="1697" name="Google Shape;1697;p270"/>
            <p:cNvPicPr preferRelativeResize="0"/>
            <p:nvPr/>
          </p:nvPicPr>
          <p:blipFill rotWithShape="1">
            <a:blip r:embed="rId4">
              <a:alphaModFix/>
            </a:blip>
            <a:srcRect b="8791" l="0" r="0" t="0"/>
            <a:stretch/>
          </p:blipFill>
          <p:spPr>
            <a:xfrm>
              <a:off x="0" y="0"/>
              <a:ext cx="2147483646" cy="18912955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8" name="Google Shape;1698;p270"/>
            <p:cNvPicPr preferRelativeResize="0"/>
            <p:nvPr/>
          </p:nvPicPr>
          <p:blipFill rotWithShape="1">
            <a:blip r:embed="rId4">
              <a:alphaModFix/>
            </a:blip>
            <a:srcRect b="0" l="0" r="91854" t="90699"/>
            <a:stretch/>
          </p:blipFill>
          <p:spPr>
            <a:xfrm>
              <a:off x="81910357" y="1891960695"/>
              <a:ext cx="231776301" cy="2555229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271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Beating inflation</a:t>
            </a:r>
            <a:endParaRPr/>
          </a:p>
        </p:txBody>
      </p:sp>
      <p:sp>
        <p:nvSpPr>
          <p:cNvPr id="1704" name="Google Shape;1704;p271"/>
          <p:cNvSpPr txBox="1"/>
          <p:nvPr>
            <p:ph idx="1" type="body"/>
          </p:nvPr>
        </p:nvSpPr>
        <p:spPr>
          <a:xfrm>
            <a:off x="1023937" y="1358900"/>
            <a:ext cx="78867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European Economic and Monetary Union: stable prices </a:t>
            </a:r>
            <a:endParaRPr/>
          </a:p>
        </p:txBody>
      </p:sp>
      <p:pic>
        <p:nvPicPr>
          <p:cNvPr id="1705" name="Google Shape;1705;p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75" y="1981200"/>
            <a:ext cx="8602451" cy="4125164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271"/>
          <p:cNvSpPr txBox="1"/>
          <p:nvPr/>
        </p:nvSpPr>
        <p:spPr>
          <a:xfrm>
            <a:off x="1774825" y="6227762"/>
            <a:ext cx="5594350" cy="246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Average annual inflation in the 18 EU countries using the euro (2013)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272"/>
          <p:cNvSpPr txBox="1"/>
          <p:nvPr>
            <p:ph type="title"/>
          </p:nvPr>
        </p:nvSpPr>
        <p:spPr>
          <a:xfrm>
            <a:off x="630237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single market: freedom of choice</a:t>
            </a:r>
            <a:endParaRPr/>
          </a:p>
        </p:txBody>
      </p:sp>
      <p:sp>
        <p:nvSpPr>
          <p:cNvPr id="1712" name="Google Shape;1712;p272"/>
          <p:cNvSpPr txBox="1"/>
          <p:nvPr>
            <p:ph idx="1" type="body"/>
          </p:nvPr>
        </p:nvSpPr>
        <p:spPr>
          <a:xfrm>
            <a:off x="4306887" y="3721100"/>
            <a:ext cx="3887787" cy="37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The single market has led to:</a:t>
            </a:r>
            <a:endParaRPr/>
          </a:p>
        </p:txBody>
      </p:sp>
      <p:sp>
        <p:nvSpPr>
          <p:cNvPr id="1713" name="Google Shape;1713;p272"/>
          <p:cNvSpPr txBox="1"/>
          <p:nvPr>
            <p:ph idx="1" type="body"/>
          </p:nvPr>
        </p:nvSpPr>
        <p:spPr>
          <a:xfrm>
            <a:off x="4306887" y="4203700"/>
            <a:ext cx="388778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significant reductions in the price of many products and services, including airfares and phone calls</a:t>
            </a:r>
            <a:endParaRPr b="0" i="0" sz="12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more choice for consumers</a:t>
            </a:r>
            <a:endParaRPr b="0" i="0" sz="12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2.8 million new jobs</a:t>
            </a:r>
            <a:endParaRPr/>
          </a:p>
        </p:txBody>
      </p:sp>
      <p:sp>
        <p:nvSpPr>
          <p:cNvPr id="1714" name="Google Shape;1714;p272"/>
          <p:cNvSpPr txBox="1"/>
          <p:nvPr>
            <p:ph idx="1" type="body"/>
          </p:nvPr>
        </p:nvSpPr>
        <p:spPr>
          <a:xfrm>
            <a:off x="4306887" y="1854200"/>
            <a:ext cx="3887787" cy="37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Four freedoms of movement:</a:t>
            </a:r>
            <a:br>
              <a:rPr b="0" i="0" lang="en-US" sz="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</a:br>
            <a:endParaRPr/>
          </a:p>
        </p:txBody>
      </p:sp>
      <p:sp>
        <p:nvSpPr>
          <p:cNvPr id="1715" name="Google Shape;1715;p272"/>
          <p:cNvSpPr txBox="1"/>
          <p:nvPr/>
        </p:nvSpPr>
        <p:spPr>
          <a:xfrm>
            <a:off x="4306887" y="2335212"/>
            <a:ext cx="3887787" cy="13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goods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services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people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capital</a:t>
            </a:r>
            <a:endParaRPr/>
          </a:p>
        </p:txBody>
      </p:sp>
      <p:pic>
        <p:nvPicPr>
          <p:cNvPr id="1716" name="Google Shape;1716;p2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1462087"/>
            <a:ext cx="3178858" cy="466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273"/>
          <p:cNvSpPr txBox="1"/>
          <p:nvPr>
            <p:ph type="title"/>
          </p:nvPr>
        </p:nvSpPr>
        <p:spPr>
          <a:xfrm>
            <a:off x="630237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Free to move</a:t>
            </a:r>
            <a:endParaRPr/>
          </a:p>
        </p:txBody>
      </p:sp>
      <p:sp>
        <p:nvSpPr>
          <p:cNvPr id="1722" name="Google Shape;1722;p273"/>
          <p:cNvSpPr txBox="1"/>
          <p:nvPr>
            <p:ph idx="1" type="body"/>
          </p:nvPr>
        </p:nvSpPr>
        <p:spPr>
          <a:xfrm>
            <a:off x="1444625" y="1420812"/>
            <a:ext cx="3887787" cy="37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‘Schengen’</a:t>
            </a:r>
            <a:endParaRPr/>
          </a:p>
        </p:txBody>
      </p:sp>
      <p:sp>
        <p:nvSpPr>
          <p:cNvPr id="1723" name="Google Shape;1723;p273"/>
          <p:cNvSpPr txBox="1"/>
          <p:nvPr/>
        </p:nvSpPr>
        <p:spPr>
          <a:xfrm>
            <a:off x="1444625" y="2097087"/>
            <a:ext cx="3887787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No police or customs checks at borders between most EU countries </a:t>
            </a:r>
            <a:endParaRPr/>
          </a:p>
          <a:p>
            <a:pPr indent="-1524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Controls strengthened at the EU’s external borders</a:t>
            </a:r>
            <a:endParaRPr/>
          </a:p>
          <a:p>
            <a:pPr indent="-1524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More cooperation between police from different EU countries</a:t>
            </a:r>
            <a:endParaRPr/>
          </a:p>
          <a:p>
            <a:pPr indent="-1524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Buy and bring back any goods for personal use when you travel between EU countries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24" name="Google Shape;1724;p2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837" y="1976437"/>
            <a:ext cx="2874009" cy="4157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274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Going abroad to learn</a:t>
            </a:r>
            <a:endParaRPr/>
          </a:p>
        </p:txBody>
      </p:sp>
      <p:sp>
        <p:nvSpPr>
          <p:cNvPr id="1730" name="Google Shape;1730;p274"/>
          <p:cNvSpPr txBox="1"/>
          <p:nvPr/>
        </p:nvSpPr>
        <p:spPr>
          <a:xfrm>
            <a:off x="1435100" y="1423987"/>
            <a:ext cx="16017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Erasmus+</a:t>
            </a:r>
            <a:endParaRPr/>
          </a:p>
        </p:txBody>
      </p:sp>
      <p:sp>
        <p:nvSpPr>
          <p:cNvPr id="1731" name="Google Shape;1731;p274"/>
          <p:cNvSpPr txBox="1"/>
          <p:nvPr/>
        </p:nvSpPr>
        <p:spPr>
          <a:xfrm>
            <a:off x="1390650" y="2181225"/>
            <a:ext cx="3292475" cy="308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Every year, more than 400 000 young people study or pursue personal development in other European countries with the support of the EU’s Erasmus+ programme for education, training, youth and sport.</a:t>
            </a:r>
            <a:endParaRPr/>
          </a:p>
        </p:txBody>
      </p:sp>
      <p:pic>
        <p:nvPicPr>
          <p:cNvPr id="1732" name="Google Shape;1732;p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7887" y="2159000"/>
            <a:ext cx="3390109" cy="352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75"/>
          <p:cNvSpPr txBox="1"/>
          <p:nvPr>
            <p:ph type="title"/>
          </p:nvPr>
        </p:nvSpPr>
        <p:spPr>
          <a:xfrm>
            <a:off x="457200" y="115887"/>
            <a:ext cx="7427912" cy="433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Improving health and the environment</a:t>
            </a:r>
            <a:endParaRPr/>
          </a:p>
        </p:txBody>
      </p:sp>
      <p:sp>
        <p:nvSpPr>
          <p:cNvPr id="1738" name="Google Shape;1738;p275"/>
          <p:cNvSpPr txBox="1"/>
          <p:nvPr>
            <p:ph idx="1" type="body"/>
          </p:nvPr>
        </p:nvSpPr>
        <p:spPr>
          <a:xfrm>
            <a:off x="4805362" y="2652712"/>
            <a:ext cx="3779837" cy="33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 action has helped bring about:</a:t>
            </a:r>
            <a:endParaRPr/>
          </a:p>
          <a:p>
            <a:pPr indent="7620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cleaner bathing water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much less acid rain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lead-free petrol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free and safe disposal of old electronic equipment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strict rules on food safety from farm to fork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more organic and quality farming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more effective health warnings on cigarettes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registration and control of all chemicals (REACH)</a:t>
            </a:r>
            <a:endParaRPr/>
          </a:p>
        </p:txBody>
      </p:sp>
      <p:sp>
        <p:nvSpPr>
          <p:cNvPr id="1739" name="Google Shape;1739;p275"/>
          <p:cNvSpPr txBox="1"/>
          <p:nvPr/>
        </p:nvSpPr>
        <p:spPr>
          <a:xfrm>
            <a:off x="882650" y="1644650"/>
            <a:ext cx="5976937" cy="65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Pollution knows no borders – joint action needed</a:t>
            </a:r>
            <a:endParaRPr/>
          </a:p>
        </p:txBody>
      </p:sp>
      <p:pic>
        <p:nvPicPr>
          <p:cNvPr id="1740" name="Google Shape;1740;p2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225" y="2506662"/>
            <a:ext cx="4075703" cy="2989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276"/>
          <p:cNvSpPr txBox="1"/>
          <p:nvPr>
            <p:ph type="title"/>
          </p:nvPr>
        </p:nvSpPr>
        <p:spPr>
          <a:xfrm>
            <a:off x="457200" y="115887"/>
            <a:ext cx="7427912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 area of freedom, security and justice</a:t>
            </a:r>
            <a:endParaRPr/>
          </a:p>
        </p:txBody>
      </p:sp>
      <p:sp>
        <p:nvSpPr>
          <p:cNvPr id="1746" name="Google Shape;1746;p276"/>
          <p:cNvSpPr txBox="1"/>
          <p:nvPr>
            <p:ph idx="1" type="body"/>
          </p:nvPr>
        </p:nvSpPr>
        <p:spPr>
          <a:xfrm>
            <a:off x="4572000" y="1844675"/>
            <a:ext cx="4103687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 Charter of Fundamental Rights</a:t>
            </a:r>
            <a:endParaRPr/>
          </a:p>
          <a:p>
            <a:pPr indent="-24765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None/>
            </a:pPr>
            <a:r>
              <a:t/>
            </a:r>
            <a:endParaRPr b="0" i="0" sz="15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Joint fight against terrorism </a:t>
            </a:r>
            <a:endParaRPr/>
          </a:p>
          <a:p>
            <a:pPr indent="-24765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None/>
            </a:pPr>
            <a:r>
              <a:t/>
            </a:r>
            <a:endParaRPr b="0" i="0" sz="15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Cooperation between police and law-enforcers in different EU countries</a:t>
            </a:r>
            <a:endParaRPr/>
          </a:p>
          <a:p>
            <a:pPr indent="-24765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None/>
            </a:pPr>
            <a:r>
              <a:t/>
            </a:r>
            <a:endParaRPr b="0" i="0" sz="15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Coordinated asylum and immigration policies</a:t>
            </a:r>
            <a:endParaRPr/>
          </a:p>
          <a:p>
            <a:pPr indent="-24765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None/>
            </a:pPr>
            <a:r>
              <a:t/>
            </a:r>
            <a:endParaRPr b="0" i="0" sz="15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Civil law cooperation  </a:t>
            </a:r>
            <a:endParaRPr/>
          </a:p>
        </p:txBody>
      </p:sp>
      <p:pic>
        <p:nvPicPr>
          <p:cNvPr id="1747" name="Google Shape;1747;p2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62" y="1692275"/>
            <a:ext cx="3980322" cy="399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277"/>
          <p:cNvSpPr txBox="1"/>
          <p:nvPr>
            <p:ph type="title"/>
          </p:nvPr>
        </p:nvSpPr>
        <p:spPr>
          <a:xfrm>
            <a:off x="630237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EU: an exporter of peace and prosperity</a:t>
            </a:r>
            <a:endParaRPr/>
          </a:p>
        </p:txBody>
      </p:sp>
      <p:sp>
        <p:nvSpPr>
          <p:cNvPr id="1753" name="Google Shape;1753;p277"/>
          <p:cNvSpPr txBox="1"/>
          <p:nvPr/>
        </p:nvSpPr>
        <p:spPr>
          <a:xfrm>
            <a:off x="4498975" y="2768600"/>
            <a:ext cx="4075112" cy="2389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World trade rules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Common foreign and security policy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Development assistance and humanitarian aid</a:t>
            </a:r>
            <a:endParaRPr/>
          </a:p>
        </p:txBody>
      </p:sp>
      <p:pic>
        <p:nvPicPr>
          <p:cNvPr id="1754" name="Google Shape;1754;p2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" y="2535237"/>
            <a:ext cx="3774698" cy="2499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278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 – a major trading power</a:t>
            </a:r>
            <a:endParaRPr/>
          </a:p>
        </p:txBody>
      </p:sp>
      <p:sp>
        <p:nvSpPr>
          <p:cNvPr id="1760" name="Google Shape;1760;p278"/>
          <p:cNvSpPr txBox="1"/>
          <p:nvPr/>
        </p:nvSpPr>
        <p:spPr>
          <a:xfrm>
            <a:off x="1038225" y="2070100"/>
            <a:ext cx="262413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% of global exports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goods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(2012)</a:t>
            </a:r>
            <a:endParaRPr/>
          </a:p>
        </p:txBody>
      </p:sp>
      <p:sp>
        <p:nvSpPr>
          <p:cNvPr id="1761" name="Google Shape;1761;p278"/>
          <p:cNvSpPr txBox="1"/>
          <p:nvPr/>
        </p:nvSpPr>
        <p:spPr>
          <a:xfrm>
            <a:off x="5106987" y="2070100"/>
            <a:ext cx="267017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% of global exports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services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(2012)</a:t>
            </a:r>
            <a:endParaRPr/>
          </a:p>
        </p:txBody>
      </p:sp>
      <p:pic>
        <p:nvPicPr>
          <p:cNvPr id="1762" name="Google Shape;1762;p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" y="3194050"/>
            <a:ext cx="4572000" cy="27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3" name="Google Shape;1763;p2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6075" y="3194050"/>
            <a:ext cx="4572000" cy="27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279"/>
          <p:cNvSpPr txBox="1"/>
          <p:nvPr>
            <p:ph type="title"/>
          </p:nvPr>
        </p:nvSpPr>
        <p:spPr>
          <a:xfrm>
            <a:off x="630237" y="0"/>
            <a:ext cx="6884987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 is the biggest provider of development aid in the world</a:t>
            </a:r>
            <a:endParaRPr/>
          </a:p>
        </p:txBody>
      </p:sp>
      <p:sp>
        <p:nvSpPr>
          <p:cNvPr id="1770" name="Google Shape;1770;p279"/>
          <p:cNvSpPr txBox="1"/>
          <p:nvPr>
            <p:ph idx="1" type="body"/>
          </p:nvPr>
        </p:nvSpPr>
        <p:spPr>
          <a:xfrm>
            <a:off x="1627187" y="1365250"/>
            <a:ext cx="6003925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The EU provides over half of all development aid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59AC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71" name="Google Shape;1771;p279"/>
          <p:cNvSpPr txBox="1"/>
          <p:nvPr/>
        </p:nvSpPr>
        <p:spPr>
          <a:xfrm>
            <a:off x="2817812" y="5856287"/>
            <a:ext cx="33559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Official development aid, billion € (2013)</a:t>
            </a:r>
            <a:endParaRPr/>
          </a:p>
        </p:txBody>
      </p:sp>
      <p:pic>
        <p:nvPicPr>
          <p:cNvPr id="1772" name="Google Shape;1772;p2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362" y="1981200"/>
            <a:ext cx="4614862" cy="357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" name="Google Shape;1773;p2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362" y="1981200"/>
            <a:ext cx="4599710" cy="3570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280"/>
          <p:cNvSpPr txBox="1"/>
          <p:nvPr>
            <p:ph type="title"/>
          </p:nvPr>
        </p:nvSpPr>
        <p:spPr>
          <a:xfrm>
            <a:off x="457200" y="115887"/>
            <a:ext cx="7427912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Protecting consumers' rights </a:t>
            </a:r>
            <a:endParaRPr/>
          </a:p>
        </p:txBody>
      </p:sp>
      <p:sp>
        <p:nvSpPr>
          <p:cNvPr id="1779" name="Google Shape;1779;p280"/>
          <p:cNvSpPr txBox="1"/>
          <p:nvPr/>
        </p:nvSpPr>
        <p:spPr>
          <a:xfrm>
            <a:off x="2197100" y="2038350"/>
            <a:ext cx="606425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Char char="•"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Clear labelling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Char char="•"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Health and safety standards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Char char="•"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Unfair practice in contracts prohibited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Char char="•"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Passengers’ rights, such as compensation for long delays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Char char="•"/>
            </a:pPr>
            <a:r>
              <a:rPr b="0" i="0" lang="en-US" sz="14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Help to resolve problems </a:t>
            </a:r>
            <a:endParaRPr/>
          </a:p>
        </p:txBody>
      </p:sp>
      <p:sp>
        <p:nvSpPr>
          <p:cNvPr id="1780" name="Google Shape;1780;p280"/>
          <p:cNvSpPr txBox="1"/>
          <p:nvPr/>
        </p:nvSpPr>
        <p:spPr>
          <a:xfrm>
            <a:off x="1614487" y="1198562"/>
            <a:ext cx="62706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As a consumer you are protected by basic laws all over the EU, even when you travel or shop online</a:t>
            </a:r>
            <a:endParaRPr/>
          </a:p>
        </p:txBody>
      </p:sp>
      <p:pic>
        <p:nvPicPr>
          <p:cNvPr id="1781" name="Google Shape;1781;p2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" y="4184650"/>
            <a:ext cx="7776701" cy="207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281"/>
          <p:cNvSpPr txBox="1"/>
          <p:nvPr>
            <p:ph type="title"/>
          </p:nvPr>
        </p:nvSpPr>
        <p:spPr>
          <a:xfrm>
            <a:off x="468312" y="46037"/>
            <a:ext cx="7427912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Gender equality</a:t>
            </a:r>
            <a:endParaRPr/>
          </a:p>
        </p:txBody>
      </p:sp>
      <p:sp>
        <p:nvSpPr>
          <p:cNvPr id="1787" name="Google Shape;1787;p281"/>
          <p:cNvSpPr txBox="1"/>
          <p:nvPr/>
        </p:nvSpPr>
        <p:spPr>
          <a:xfrm>
            <a:off x="1431925" y="1812925"/>
            <a:ext cx="6480175" cy="107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600"/>
              <a:buFont typeface="Verdana"/>
              <a:buNone/>
            </a:pPr>
            <a:r>
              <a:rPr b="0" i="0" lang="en-US" sz="16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The gender pay gap: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>
              <a:solidFill>
                <a:srgbClr val="359AC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600"/>
              <a:buFont typeface="Verdana"/>
              <a:buNone/>
            </a:pPr>
            <a:r>
              <a:rPr b="0" i="0" lang="en-US" sz="16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 Women in the EU earn on average 16.4 % less per hour than men.</a:t>
            </a:r>
            <a:endParaRPr/>
          </a:p>
        </p:txBody>
      </p:sp>
      <p:pic>
        <p:nvPicPr>
          <p:cNvPr id="1788" name="Google Shape;1788;p2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9637" y="3268662"/>
            <a:ext cx="2213841" cy="261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282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 institutions</a:t>
            </a:r>
            <a:endParaRPr/>
          </a:p>
        </p:txBody>
      </p:sp>
      <p:sp>
        <p:nvSpPr>
          <p:cNvPr id="1794" name="Google Shape;1794;p282"/>
          <p:cNvSpPr txBox="1"/>
          <p:nvPr/>
        </p:nvSpPr>
        <p:spPr>
          <a:xfrm>
            <a:off x="855662" y="2843212"/>
            <a:ext cx="22860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European Parliament</a:t>
            </a:r>
            <a:endParaRPr/>
          </a:p>
        </p:txBody>
      </p:sp>
      <p:sp>
        <p:nvSpPr>
          <p:cNvPr id="1795" name="Google Shape;1795;p282"/>
          <p:cNvSpPr txBox="1"/>
          <p:nvPr/>
        </p:nvSpPr>
        <p:spPr>
          <a:xfrm>
            <a:off x="855662" y="3757612"/>
            <a:ext cx="9906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Court of Justice</a:t>
            </a:r>
            <a:endParaRPr/>
          </a:p>
        </p:txBody>
      </p:sp>
      <p:sp>
        <p:nvSpPr>
          <p:cNvPr id="1796" name="Google Shape;1796;p282"/>
          <p:cNvSpPr txBox="1"/>
          <p:nvPr/>
        </p:nvSpPr>
        <p:spPr>
          <a:xfrm>
            <a:off x="2151062" y="3757612"/>
            <a:ext cx="9906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Court of Auditors</a:t>
            </a:r>
            <a:endParaRPr/>
          </a:p>
        </p:txBody>
      </p:sp>
      <p:sp>
        <p:nvSpPr>
          <p:cNvPr id="1797" name="Google Shape;1797;p282"/>
          <p:cNvSpPr txBox="1"/>
          <p:nvPr/>
        </p:nvSpPr>
        <p:spPr>
          <a:xfrm>
            <a:off x="3446462" y="3757612"/>
            <a:ext cx="22860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Economic and Social Committee</a:t>
            </a:r>
            <a:endParaRPr/>
          </a:p>
        </p:txBody>
      </p:sp>
      <p:sp>
        <p:nvSpPr>
          <p:cNvPr id="1798" name="Google Shape;1798;p282"/>
          <p:cNvSpPr txBox="1"/>
          <p:nvPr/>
        </p:nvSpPr>
        <p:spPr>
          <a:xfrm>
            <a:off x="6037262" y="3757612"/>
            <a:ext cx="22860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Committee of the Regions</a:t>
            </a:r>
            <a:endParaRPr/>
          </a:p>
        </p:txBody>
      </p:sp>
      <p:sp>
        <p:nvSpPr>
          <p:cNvPr id="1799" name="Google Shape;1799;p282"/>
          <p:cNvSpPr txBox="1"/>
          <p:nvPr/>
        </p:nvSpPr>
        <p:spPr>
          <a:xfrm>
            <a:off x="3446462" y="2843212"/>
            <a:ext cx="22860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Council of Ministers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(The Council)</a:t>
            </a:r>
            <a:endParaRPr/>
          </a:p>
        </p:txBody>
      </p:sp>
      <p:sp>
        <p:nvSpPr>
          <p:cNvPr id="1800" name="Google Shape;1800;p282"/>
          <p:cNvSpPr txBox="1"/>
          <p:nvPr/>
        </p:nvSpPr>
        <p:spPr>
          <a:xfrm>
            <a:off x="6037262" y="2843212"/>
            <a:ext cx="22860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European Commission</a:t>
            </a:r>
            <a:endParaRPr/>
          </a:p>
        </p:txBody>
      </p:sp>
      <p:sp>
        <p:nvSpPr>
          <p:cNvPr id="1801" name="Google Shape;1801;p282"/>
          <p:cNvSpPr txBox="1"/>
          <p:nvPr/>
        </p:nvSpPr>
        <p:spPr>
          <a:xfrm>
            <a:off x="855662" y="4672012"/>
            <a:ext cx="22860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European Investment Bank</a:t>
            </a:r>
            <a:endParaRPr/>
          </a:p>
        </p:txBody>
      </p:sp>
      <p:sp>
        <p:nvSpPr>
          <p:cNvPr id="1802" name="Google Shape;1802;p282"/>
          <p:cNvSpPr txBox="1"/>
          <p:nvPr/>
        </p:nvSpPr>
        <p:spPr>
          <a:xfrm>
            <a:off x="6037262" y="4672012"/>
            <a:ext cx="22860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European Central Bank</a:t>
            </a:r>
            <a:endParaRPr/>
          </a:p>
        </p:txBody>
      </p:sp>
      <p:sp>
        <p:nvSpPr>
          <p:cNvPr id="1803" name="Google Shape;1803;p282"/>
          <p:cNvSpPr/>
          <p:nvPr/>
        </p:nvSpPr>
        <p:spPr>
          <a:xfrm>
            <a:off x="3751262" y="4595812"/>
            <a:ext cx="1752600" cy="6858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282"/>
          <p:cNvSpPr txBox="1"/>
          <p:nvPr/>
        </p:nvSpPr>
        <p:spPr>
          <a:xfrm>
            <a:off x="3598862" y="4724400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Agencies</a:t>
            </a:r>
            <a:endParaRPr/>
          </a:p>
        </p:txBody>
      </p:sp>
      <p:sp>
        <p:nvSpPr>
          <p:cNvPr id="1805" name="Google Shape;1805;p282"/>
          <p:cNvSpPr txBox="1"/>
          <p:nvPr/>
        </p:nvSpPr>
        <p:spPr>
          <a:xfrm>
            <a:off x="3446462" y="1928812"/>
            <a:ext cx="2286000" cy="533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European Council (summit)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283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EU laws are made</a:t>
            </a:r>
            <a:endParaRPr/>
          </a:p>
        </p:txBody>
      </p:sp>
      <p:sp>
        <p:nvSpPr>
          <p:cNvPr id="1811" name="Google Shape;1811;p283"/>
          <p:cNvSpPr txBox="1"/>
          <p:nvPr/>
        </p:nvSpPr>
        <p:spPr>
          <a:xfrm>
            <a:off x="1555750" y="1928812"/>
            <a:ext cx="5997575" cy="444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Citizens, interest groups, experts: discuss, consult</a:t>
            </a:r>
            <a:endParaRPr/>
          </a:p>
        </p:txBody>
      </p:sp>
      <p:sp>
        <p:nvSpPr>
          <p:cNvPr id="1812" name="Google Shape;1812;p283"/>
          <p:cNvSpPr txBox="1"/>
          <p:nvPr/>
        </p:nvSpPr>
        <p:spPr>
          <a:xfrm>
            <a:off x="1555750" y="2732087"/>
            <a:ext cx="5997575" cy="444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Commission: makes formal proposal </a:t>
            </a:r>
            <a:endParaRPr/>
          </a:p>
        </p:txBody>
      </p:sp>
      <p:sp>
        <p:nvSpPr>
          <p:cNvPr id="1813" name="Google Shape;1813;p283"/>
          <p:cNvSpPr txBox="1"/>
          <p:nvPr/>
        </p:nvSpPr>
        <p:spPr>
          <a:xfrm>
            <a:off x="1568450" y="3543300"/>
            <a:ext cx="5995987" cy="446087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Parliament and Council of Ministers: decide jointly </a:t>
            </a:r>
            <a:endParaRPr/>
          </a:p>
        </p:txBody>
      </p:sp>
      <p:sp>
        <p:nvSpPr>
          <p:cNvPr id="1814" name="Google Shape;1814;p283"/>
          <p:cNvSpPr txBox="1"/>
          <p:nvPr/>
        </p:nvSpPr>
        <p:spPr>
          <a:xfrm>
            <a:off x="1571625" y="4381500"/>
            <a:ext cx="5995987" cy="446087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National or local authorities: implement</a:t>
            </a:r>
            <a:endParaRPr/>
          </a:p>
        </p:txBody>
      </p:sp>
      <p:sp>
        <p:nvSpPr>
          <p:cNvPr id="1815" name="Google Shape;1815;p283"/>
          <p:cNvSpPr txBox="1"/>
          <p:nvPr/>
        </p:nvSpPr>
        <p:spPr>
          <a:xfrm>
            <a:off x="1587500" y="5213350"/>
            <a:ext cx="5995987" cy="444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Commission and Court of Justice: monitor implementation</a:t>
            </a:r>
            <a:endParaRPr/>
          </a:p>
        </p:txBody>
      </p:sp>
      <p:sp>
        <p:nvSpPr>
          <p:cNvPr id="1816" name="Google Shape;1816;p283"/>
          <p:cNvSpPr/>
          <p:nvPr/>
        </p:nvSpPr>
        <p:spPr>
          <a:xfrm>
            <a:off x="4364037" y="2471737"/>
            <a:ext cx="107950" cy="190500"/>
          </a:xfrm>
          <a:prstGeom prst="downArrow">
            <a:avLst>
              <a:gd fmla="val 15480" name="adj1"/>
              <a:gd fmla="val 50000" name="adj2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283"/>
          <p:cNvSpPr/>
          <p:nvPr/>
        </p:nvSpPr>
        <p:spPr>
          <a:xfrm>
            <a:off x="4362450" y="3276600"/>
            <a:ext cx="107950" cy="188912"/>
          </a:xfrm>
          <a:prstGeom prst="downArrow">
            <a:avLst>
              <a:gd fmla="val 15429" name="adj1"/>
              <a:gd fmla="val 50000" name="adj2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283"/>
          <p:cNvSpPr/>
          <p:nvPr/>
        </p:nvSpPr>
        <p:spPr>
          <a:xfrm>
            <a:off x="4360862" y="4116387"/>
            <a:ext cx="107950" cy="190500"/>
          </a:xfrm>
          <a:prstGeom prst="downArrow">
            <a:avLst>
              <a:gd fmla="val 15480" name="adj1"/>
              <a:gd fmla="val 50000" name="adj2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283"/>
          <p:cNvSpPr/>
          <p:nvPr/>
        </p:nvSpPr>
        <p:spPr>
          <a:xfrm>
            <a:off x="4359275" y="4938712"/>
            <a:ext cx="107950" cy="190500"/>
          </a:xfrm>
          <a:prstGeom prst="downArrow">
            <a:avLst>
              <a:gd fmla="val 15480" name="adj1"/>
              <a:gd fmla="val 50000" name="adj2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284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European Parliament – voice of the people</a:t>
            </a:r>
            <a:endParaRPr/>
          </a:p>
        </p:txBody>
      </p:sp>
      <p:sp>
        <p:nvSpPr>
          <p:cNvPr id="1825" name="Google Shape;1825;p284"/>
          <p:cNvSpPr txBox="1"/>
          <p:nvPr>
            <p:ph idx="1" type="body"/>
          </p:nvPr>
        </p:nvSpPr>
        <p:spPr>
          <a:xfrm>
            <a:off x="1052512" y="2209800"/>
            <a:ext cx="7108825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Number of members elected in each country  </a:t>
            </a:r>
            <a:endParaRPr b="0" i="0" sz="11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5875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6" name="Google Shape;1826;p284"/>
          <p:cNvSpPr txBox="1"/>
          <p:nvPr>
            <p:ph idx="2" type="body"/>
          </p:nvPr>
        </p:nvSpPr>
        <p:spPr>
          <a:xfrm>
            <a:off x="1052512" y="1368425"/>
            <a:ext cx="7800975" cy="65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Decides EU laws and budget together with the Council of Ministers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359AC2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Democratic supervision of all the EU’s work</a:t>
            </a:r>
            <a:endParaRPr/>
          </a:p>
          <a:p>
            <a:pPr indent="-1270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359AC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7" name="Google Shape;1827;p284"/>
          <p:cNvSpPr txBox="1"/>
          <p:nvPr/>
        </p:nvSpPr>
        <p:spPr>
          <a:xfrm>
            <a:off x="1052512" y="2620962"/>
            <a:ext cx="2147887" cy="344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Austria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18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Belgium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Bulgaria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Croatia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Cyprus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Czech</a:t>
            </a:r>
            <a:r>
              <a:rPr b="0" i="0" lang="en-US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Republic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Denmark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Estonia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Finland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France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74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8" name="Google Shape;1828;p284"/>
          <p:cNvSpPr txBox="1"/>
          <p:nvPr/>
        </p:nvSpPr>
        <p:spPr>
          <a:xfrm>
            <a:off x="3640137" y="2620962"/>
            <a:ext cx="2147887" cy="2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Germany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96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Greece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Hungary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Ireland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Italy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73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Latvia</a:t>
            </a:r>
            <a:r>
              <a:rPr b="0" i="0" lang="en-US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Lithuania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Luxembourg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Malta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/>
          </a:p>
        </p:txBody>
      </p:sp>
      <p:sp>
        <p:nvSpPr>
          <p:cNvPr id="1829" name="Google Shape;1829;p284"/>
          <p:cNvSpPr txBox="1"/>
          <p:nvPr/>
        </p:nvSpPr>
        <p:spPr>
          <a:xfrm>
            <a:off x="1133475" y="5815012"/>
            <a:ext cx="6877050" cy="2524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Total  -  </a:t>
            </a:r>
            <a:r>
              <a:rPr b="1" i="0" lang="en-US" sz="12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751</a:t>
            </a:r>
            <a:endParaRPr/>
          </a:p>
        </p:txBody>
      </p:sp>
      <p:sp>
        <p:nvSpPr>
          <p:cNvPr id="1830" name="Google Shape;1830;p284"/>
          <p:cNvSpPr txBox="1"/>
          <p:nvPr/>
        </p:nvSpPr>
        <p:spPr>
          <a:xfrm>
            <a:off x="6089650" y="2614612"/>
            <a:ext cx="2600325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Netherlands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Poland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51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Portugal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Romania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32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Slovakia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Slovenia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Spain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54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Sweden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20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United Kingdom  -  </a:t>
            </a:r>
            <a:r>
              <a:rPr b="1" i="0" lang="en-US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73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285"/>
          <p:cNvSpPr txBox="1"/>
          <p:nvPr>
            <p:ph type="title"/>
          </p:nvPr>
        </p:nvSpPr>
        <p:spPr>
          <a:xfrm>
            <a:off x="628650" y="0"/>
            <a:ext cx="7886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European political parties</a:t>
            </a:r>
            <a:endParaRPr/>
          </a:p>
        </p:txBody>
      </p:sp>
      <p:sp>
        <p:nvSpPr>
          <p:cNvPr id="1836" name="Google Shape;1836;p285"/>
          <p:cNvSpPr txBox="1"/>
          <p:nvPr>
            <p:ph idx="1" type="body"/>
          </p:nvPr>
        </p:nvSpPr>
        <p:spPr>
          <a:xfrm>
            <a:off x="1757362" y="1389062"/>
            <a:ext cx="5735637" cy="846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Number of seats in the European Parliament </a:t>
            </a:r>
            <a:b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per political group (November 2014)</a:t>
            </a:r>
            <a:endParaRPr b="0" i="0" sz="1700" u="none" cap="none" strike="noStrike">
              <a:solidFill>
                <a:srgbClr val="359AC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2065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>
              <a:solidFill>
                <a:srgbClr val="359AC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837" name="Google Shape;1837;p285"/>
          <p:cNvGrpSpPr/>
          <p:nvPr/>
        </p:nvGrpSpPr>
        <p:grpSpPr>
          <a:xfrm>
            <a:off x="214312" y="2774950"/>
            <a:ext cx="8789987" cy="3962345"/>
            <a:chOff x="0" y="0"/>
            <a:chExt cx="2147483646" cy="2147483647"/>
          </a:xfrm>
        </p:grpSpPr>
        <p:grpSp>
          <p:nvGrpSpPr>
            <p:cNvPr id="1838" name="Google Shape;1838;p285"/>
            <p:cNvGrpSpPr/>
            <p:nvPr/>
          </p:nvGrpSpPr>
          <p:grpSpPr>
            <a:xfrm>
              <a:off x="427790112" y="306296021"/>
              <a:ext cx="1211651619" cy="1841187625"/>
              <a:chOff x="0" y="0"/>
              <a:chExt cx="2147483647" cy="2147483646"/>
            </a:xfrm>
          </p:grpSpPr>
          <p:pic>
            <p:nvPicPr>
              <p:cNvPr descr="C:\Documents and Settings\jldelsaute\Desktop\graph4_1.jpg" id="1839" name="Google Shape;1839;p2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0"/>
                <a:ext cx="2147483647" cy="214748364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840" name="Google Shape;1840;p285"/>
              <p:cNvCxnSpPr/>
              <p:nvPr/>
            </p:nvCxnSpPr>
            <p:spPr>
              <a:xfrm>
                <a:off x="153289729" y="1397894499"/>
                <a:ext cx="97610337" cy="431507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1" name="Google Shape;1841;p285"/>
              <p:cNvCxnSpPr/>
              <p:nvPr/>
            </p:nvCxnSpPr>
            <p:spPr>
              <a:xfrm>
                <a:off x="297643037" y="687407082"/>
                <a:ext cx="98297513" cy="6823891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2" name="Google Shape;1842;p285"/>
              <p:cNvCxnSpPr/>
              <p:nvPr/>
            </p:nvCxnSpPr>
            <p:spPr>
              <a:xfrm>
                <a:off x="683959936" y="112393543"/>
                <a:ext cx="87986778" cy="20371354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3" name="Google Shape;1843;p285"/>
              <p:cNvCxnSpPr/>
              <p:nvPr/>
            </p:nvCxnSpPr>
            <p:spPr>
              <a:xfrm>
                <a:off x="1047592514" y="45158330"/>
                <a:ext cx="11685960" cy="1685902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4" name="Google Shape;1844;p285"/>
              <p:cNvCxnSpPr/>
              <p:nvPr/>
            </p:nvCxnSpPr>
            <p:spPr>
              <a:xfrm flipH="1">
                <a:off x="1530145015" y="223783795"/>
                <a:ext cx="73551662" cy="92323233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5" name="Google Shape;1845;p285"/>
              <p:cNvCxnSpPr/>
              <p:nvPr/>
            </p:nvCxnSpPr>
            <p:spPr>
              <a:xfrm flipH="1">
                <a:off x="1952206674" y="921225230"/>
                <a:ext cx="86611989" cy="15353786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6" name="Google Shape;1846;p285"/>
              <p:cNvCxnSpPr/>
              <p:nvPr/>
            </p:nvCxnSpPr>
            <p:spPr>
              <a:xfrm flipH="1">
                <a:off x="1996887763" y="1157051237"/>
                <a:ext cx="128542972" cy="1665832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7" name="Google Shape;1847;p285"/>
              <p:cNvCxnSpPr/>
              <p:nvPr/>
            </p:nvCxnSpPr>
            <p:spPr>
              <a:xfrm flipH="1">
                <a:off x="2017509650" y="1477171604"/>
                <a:ext cx="97610337" cy="11038963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48" name="Google Shape;1848;p285"/>
            <p:cNvSpPr txBox="1"/>
            <p:nvPr/>
          </p:nvSpPr>
          <p:spPr>
            <a:xfrm>
              <a:off x="103941788" y="290809147"/>
              <a:ext cx="726428790" cy="350175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Greens/European Free Alliance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1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50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2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49" name="Google Shape;1849;p285"/>
            <p:cNvSpPr txBox="1"/>
            <p:nvPr/>
          </p:nvSpPr>
          <p:spPr>
            <a:xfrm>
              <a:off x="1568434903" y="779506200"/>
              <a:ext cx="515054767" cy="350175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European Conservatives </a:t>
              </a:r>
              <a:b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</a:b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and Reformists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1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70</a:t>
              </a:r>
              <a:endParaRPr/>
            </a:p>
          </p:txBody>
        </p:sp>
        <p:sp>
          <p:nvSpPr>
            <p:cNvPr id="1850" name="Google Shape;1850;p285"/>
            <p:cNvSpPr txBox="1"/>
            <p:nvPr/>
          </p:nvSpPr>
          <p:spPr>
            <a:xfrm>
              <a:off x="589908275" y="0"/>
              <a:ext cx="480924640" cy="351035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Alliance of Liberals and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Democrats for Europe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1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67</a:t>
              </a:r>
              <a:endParaRPr/>
            </a:p>
          </p:txBody>
        </p:sp>
        <p:sp>
          <p:nvSpPr>
            <p:cNvPr id="1851" name="Google Shape;1851;p285"/>
            <p:cNvSpPr txBox="1"/>
            <p:nvPr/>
          </p:nvSpPr>
          <p:spPr>
            <a:xfrm>
              <a:off x="1256609565" y="175517855"/>
              <a:ext cx="680663401" cy="350175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European People’s Party </a:t>
              </a:r>
              <a:b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</a:b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(Christian Democrats)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1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221</a:t>
              </a:r>
              <a:endParaRPr/>
            </a:p>
          </p:txBody>
        </p:sp>
        <p:sp>
          <p:nvSpPr>
            <p:cNvPr id="1852" name="Google Shape;1852;p285"/>
            <p:cNvSpPr txBox="1"/>
            <p:nvPr/>
          </p:nvSpPr>
          <p:spPr>
            <a:xfrm>
              <a:off x="1621181532" y="1447162698"/>
              <a:ext cx="526302114" cy="250371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Non-attached members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1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52</a:t>
              </a:r>
              <a:endParaRPr/>
            </a:p>
          </p:txBody>
        </p:sp>
        <p:sp>
          <p:nvSpPr>
            <p:cNvPr id="1853" name="Google Shape;1853;p285"/>
            <p:cNvSpPr txBox="1"/>
            <p:nvPr/>
          </p:nvSpPr>
          <p:spPr>
            <a:xfrm>
              <a:off x="2327056" y="722720952"/>
              <a:ext cx="593398959" cy="350175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Progressive Alliance of Socialists and Democrats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1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191</a:t>
              </a:r>
              <a:endParaRPr/>
            </a:p>
          </p:txBody>
        </p:sp>
        <p:sp>
          <p:nvSpPr>
            <p:cNvPr id="1854" name="Google Shape;1854;p285"/>
            <p:cNvSpPr txBox="1"/>
            <p:nvPr/>
          </p:nvSpPr>
          <p:spPr>
            <a:xfrm>
              <a:off x="0" y="1330150612"/>
              <a:ext cx="514279105" cy="350175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European United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Left - Nordic Green Left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1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52</a:t>
              </a:r>
              <a:endParaRPr/>
            </a:p>
          </p:txBody>
        </p:sp>
        <p:sp>
          <p:nvSpPr>
            <p:cNvPr id="1855" name="Google Shape;1855;p285"/>
            <p:cNvSpPr txBox="1"/>
            <p:nvPr/>
          </p:nvSpPr>
          <p:spPr>
            <a:xfrm>
              <a:off x="1626999054" y="1122798817"/>
              <a:ext cx="477434191" cy="350175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0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Europe of Freedom and Direct Democracy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Verdana"/>
                <a:buNone/>
              </a:pPr>
              <a:r>
                <a:rPr b="1" i="0" lang="en-US" sz="1200" u="none">
                  <a:solidFill>
                    <a:srgbClr val="595959"/>
                  </a:solidFill>
                  <a:latin typeface="Verdana"/>
                  <a:ea typeface="Verdana"/>
                  <a:cs typeface="Verdana"/>
                  <a:sym typeface="Verdana"/>
                </a:rPr>
                <a:t>48</a:t>
              </a:r>
              <a:endParaRPr/>
            </a:p>
          </p:txBody>
        </p:sp>
      </p:grpSp>
      <p:sp>
        <p:nvSpPr>
          <p:cNvPr id="1856" name="Google Shape;1856;p285"/>
          <p:cNvSpPr txBox="1"/>
          <p:nvPr/>
        </p:nvSpPr>
        <p:spPr>
          <a:xfrm>
            <a:off x="4037012" y="5875337"/>
            <a:ext cx="107156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Verdana"/>
              <a:buNone/>
            </a:pPr>
            <a:r>
              <a:rPr b="0" i="0" lang="en-US" sz="13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Total: </a:t>
            </a:r>
            <a:r>
              <a:rPr b="1" i="0" lang="en-US" sz="13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751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286"/>
          <p:cNvSpPr txBox="1"/>
          <p:nvPr/>
        </p:nvSpPr>
        <p:spPr>
          <a:xfrm>
            <a:off x="304800" y="188912"/>
            <a:ext cx="6570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Council of Ministers – voice of the Member States</a:t>
            </a:r>
            <a:endParaRPr/>
          </a:p>
        </p:txBody>
      </p:sp>
      <p:sp>
        <p:nvSpPr>
          <p:cNvPr id="1863" name="Google Shape;1863;p286"/>
          <p:cNvSpPr txBox="1"/>
          <p:nvPr/>
        </p:nvSpPr>
        <p:spPr>
          <a:xfrm>
            <a:off x="1476375" y="1501775"/>
            <a:ext cx="6272212" cy="170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One minister from each EU country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Presidency: rotates every six months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Decides EU laws and budget together with Parliament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Manages the common foreign and security policy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64" name="Google Shape;1864;p2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6512" y="3209925"/>
            <a:ext cx="6575536" cy="2978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287"/>
          <p:cNvSpPr txBox="1"/>
          <p:nvPr/>
        </p:nvSpPr>
        <p:spPr>
          <a:xfrm>
            <a:off x="222250" y="188912"/>
            <a:ext cx="69421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 high representative for foreign affairs and security</a:t>
            </a:r>
            <a:endParaRPr/>
          </a:p>
        </p:txBody>
      </p:sp>
      <p:pic>
        <p:nvPicPr>
          <p:cNvPr id="1871" name="Google Shape;1871;p2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7637" y="1677987"/>
            <a:ext cx="3269499" cy="4047684"/>
          </a:xfrm>
          <a:prstGeom prst="rect">
            <a:avLst/>
          </a:prstGeom>
          <a:noFill/>
          <a:ln>
            <a:noFill/>
          </a:ln>
        </p:spPr>
      </p:pic>
      <p:sp>
        <p:nvSpPr>
          <p:cNvPr id="1872" name="Google Shape;1872;p287"/>
          <p:cNvSpPr txBox="1"/>
          <p:nvPr/>
        </p:nvSpPr>
        <p:spPr>
          <a:xfrm>
            <a:off x="611187" y="2443162"/>
            <a:ext cx="4824412" cy="281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Double role: 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–"/>
            </a:pPr>
            <a:r>
              <a:rPr b="0" i="0" lang="en-US" sz="15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chairs meetings of the Foreign Affairs Council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–"/>
            </a:pPr>
            <a:r>
              <a:rPr b="0" i="0" lang="en-US" sz="15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Vice-President of the European Commission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Manages the common foreign affairs and security policy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Head of the European External Action Service</a:t>
            </a:r>
            <a:endParaRPr/>
          </a:p>
        </p:txBody>
      </p:sp>
      <p:sp>
        <p:nvSpPr>
          <p:cNvPr id="1873" name="Google Shape;1873;p287"/>
          <p:cNvSpPr txBox="1"/>
          <p:nvPr/>
        </p:nvSpPr>
        <p:spPr>
          <a:xfrm>
            <a:off x="611187" y="1909762"/>
            <a:ext cx="5072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Federica Mogherini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288"/>
          <p:cNvSpPr txBox="1"/>
          <p:nvPr/>
        </p:nvSpPr>
        <p:spPr>
          <a:xfrm>
            <a:off x="185737" y="115887"/>
            <a:ext cx="8029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The European Commission – promoting the common interest</a:t>
            </a:r>
            <a:endParaRPr/>
          </a:p>
        </p:txBody>
      </p:sp>
      <p:sp>
        <p:nvSpPr>
          <p:cNvPr id="1880" name="Google Shape;1880;p288"/>
          <p:cNvSpPr txBox="1"/>
          <p:nvPr/>
        </p:nvSpPr>
        <p:spPr>
          <a:xfrm>
            <a:off x="1084262" y="1447800"/>
            <a:ext cx="7202487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28 independent members, one from each EU country</a:t>
            </a:r>
            <a:br>
              <a:rPr b="1" i="0" lang="en-US" sz="16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Proposes new legislation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Executive organ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Guardian of the treaties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Represents the EU on the international stage</a:t>
            </a:r>
            <a:endParaRPr/>
          </a:p>
        </p:txBody>
      </p:sp>
      <p:pic>
        <p:nvPicPr>
          <p:cNvPr id="1881" name="Google Shape;1881;p2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075" y="3554412"/>
            <a:ext cx="6537746" cy="2917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289"/>
          <p:cNvSpPr txBox="1"/>
          <p:nvPr/>
        </p:nvSpPr>
        <p:spPr>
          <a:xfrm>
            <a:off x="457200" y="115887"/>
            <a:ext cx="7427912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The Court of Justice – upholding the law</a:t>
            </a:r>
            <a:endParaRPr/>
          </a:p>
        </p:txBody>
      </p:sp>
      <p:sp>
        <p:nvSpPr>
          <p:cNvPr id="1888" name="Google Shape;1888;p289"/>
          <p:cNvSpPr txBox="1"/>
          <p:nvPr/>
        </p:nvSpPr>
        <p:spPr>
          <a:xfrm>
            <a:off x="1517650" y="1470025"/>
            <a:ext cx="7489825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28 independent judges, one from each EU country</a:t>
            </a:r>
            <a:endParaRPr/>
          </a:p>
        </p:txBody>
      </p:sp>
      <p:sp>
        <p:nvSpPr>
          <p:cNvPr id="1889" name="Google Shape;1889;p289"/>
          <p:cNvSpPr txBox="1"/>
          <p:nvPr/>
        </p:nvSpPr>
        <p:spPr>
          <a:xfrm>
            <a:off x="1517650" y="2243137"/>
            <a:ext cx="6207125" cy="2043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Rules on how to interpret EU law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Ensures EU countries apply EU laws in the same way</a:t>
            </a:r>
            <a:br>
              <a:rPr b="1" i="0" lang="en-US" sz="15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/>
          </a:p>
        </p:txBody>
      </p:sp>
      <p:pic>
        <p:nvPicPr>
          <p:cNvPr id="1890" name="Google Shape;1890;p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912" y="3313112"/>
            <a:ext cx="6903049" cy="323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290"/>
          <p:cNvSpPr txBox="1"/>
          <p:nvPr>
            <p:ph type="title"/>
          </p:nvPr>
        </p:nvSpPr>
        <p:spPr>
          <a:xfrm>
            <a:off x="457200" y="115887"/>
            <a:ext cx="7427912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Verdana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The European Ombudsman</a:t>
            </a:r>
            <a:endParaRPr/>
          </a:p>
        </p:txBody>
      </p:sp>
      <p:sp>
        <p:nvSpPr>
          <p:cNvPr id="1897" name="Google Shape;1897;p290"/>
          <p:cNvSpPr txBox="1"/>
          <p:nvPr>
            <p:ph idx="1" type="body"/>
          </p:nvPr>
        </p:nvSpPr>
        <p:spPr>
          <a:xfrm>
            <a:off x="827087" y="1989137"/>
            <a:ext cx="45370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Emily O’Reilly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 European Ombudsman</a:t>
            </a:r>
            <a:endParaRPr/>
          </a:p>
          <a:p>
            <a:pPr indent="-25400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t/>
            </a:r>
            <a:endParaRPr b="1" i="0" sz="14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8" name="Google Shape;1898;p290"/>
          <p:cNvSpPr txBox="1"/>
          <p:nvPr/>
        </p:nvSpPr>
        <p:spPr>
          <a:xfrm>
            <a:off x="841375" y="2667000"/>
            <a:ext cx="4537075" cy="357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Investigates complaints about poor or failed administration by the EU institutions</a:t>
            </a:r>
            <a:endParaRPr/>
          </a:p>
          <a:p>
            <a:pPr indent="-2476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For example: unfairness, discrimination, abuse of power, unnecessary delay, failure to reply or incorrect procedures</a:t>
            </a:r>
            <a:endParaRPr/>
          </a:p>
          <a:p>
            <a:pPr indent="-2476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Anyone in the EU can make a complaint</a:t>
            </a:r>
            <a:endParaRPr/>
          </a:p>
        </p:txBody>
      </p:sp>
      <p:pic>
        <p:nvPicPr>
          <p:cNvPr id="1899" name="Google Shape;1899;p2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525" y="1881187"/>
            <a:ext cx="2978319" cy="4153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291"/>
          <p:cNvSpPr txBox="1"/>
          <p:nvPr/>
        </p:nvSpPr>
        <p:spPr>
          <a:xfrm>
            <a:off x="1042987" y="2816225"/>
            <a:ext cx="4249737" cy="182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Ensures price stability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Controls money supply and decides interest rates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Supervises that banks are safe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Verdana"/>
              <a:buChar char="•"/>
            </a:pPr>
            <a:r>
              <a:rPr b="0" i="0" lang="en-US" sz="15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Works independently from governments</a:t>
            </a:r>
            <a:endParaRPr/>
          </a:p>
        </p:txBody>
      </p:sp>
      <p:sp>
        <p:nvSpPr>
          <p:cNvPr id="1905" name="Google Shape;1905;p291"/>
          <p:cNvSpPr txBox="1"/>
          <p:nvPr/>
        </p:nvSpPr>
        <p:spPr>
          <a:xfrm>
            <a:off x="457200" y="115887"/>
            <a:ext cx="7427912" cy="53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The European Central Bank: managing the euro</a:t>
            </a:r>
            <a:endParaRPr/>
          </a:p>
        </p:txBody>
      </p:sp>
      <p:sp>
        <p:nvSpPr>
          <p:cNvPr id="1906" name="Google Shape;1906;p291"/>
          <p:cNvSpPr txBox="1"/>
          <p:nvPr/>
        </p:nvSpPr>
        <p:spPr>
          <a:xfrm>
            <a:off x="1042987" y="2017712"/>
            <a:ext cx="2943225" cy="569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9AC2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Mario</a:t>
            </a:r>
            <a:r>
              <a:rPr b="1" i="0" lang="en-US" sz="1400" u="none">
                <a:solidFill>
                  <a:srgbClr val="5A81B5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  <a:t>Draghi</a:t>
            </a:r>
            <a:br>
              <a:rPr b="0" i="0" lang="en-US" sz="1800" u="none">
                <a:solidFill>
                  <a:srgbClr val="359AC2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1300" u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President of the Central Bank</a:t>
            </a:r>
            <a:endParaRPr/>
          </a:p>
        </p:txBody>
      </p:sp>
      <p:pic>
        <p:nvPicPr>
          <p:cNvPr id="1907" name="Google Shape;1907;p2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1500" y="1989137"/>
            <a:ext cx="3065978" cy="445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5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3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5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4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0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5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plate1-PUB">
  <a:themeElements>
    <a:clrScheme name="template1-PU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7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7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26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9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9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1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16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18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2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1_template1-PUB">
  <a:themeElements>
    <a:clrScheme name="template1-PU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24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